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abb66c13b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g3abb66c13b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abb66c13b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abb66c13b9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abb66c13b9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3abb66c13b9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2.png"/><Relationship Id="rId18" Type="http://schemas.openxmlformats.org/officeDocument/2006/relationships/image" Target="../media/image37.png"/><Relationship Id="rId3" Type="http://schemas.openxmlformats.org/officeDocument/2006/relationships/image" Target="../media/image17.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35.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4.png"/><Relationship Id="rId10" Type="http://schemas.openxmlformats.org/officeDocument/2006/relationships/image" Target="../media/image30.png"/><Relationship Id="rId19" Type="http://schemas.openxmlformats.org/officeDocument/2006/relationships/image" Target="../media/image38.png"/><Relationship Id="rId4" Type="http://schemas.openxmlformats.org/officeDocument/2006/relationships/image" Target="../media/image18.png"/><Relationship Id="rId9" Type="http://schemas.openxmlformats.org/officeDocument/2006/relationships/image" Target="../media/image29.pn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4.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17.png"/><Relationship Id="rId21" Type="http://schemas.openxmlformats.org/officeDocument/2006/relationships/image" Target="../media/image24.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notesSlide" Target="../notesSlides/notesSlide7.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18.png"/><Relationship Id="rId9" Type="http://schemas.openxmlformats.org/officeDocument/2006/relationships/image" Target="../media/image52.png"/><Relationship Id="rId14" Type="http://schemas.openxmlformats.org/officeDocument/2006/relationships/image" Target="../media/image5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3" Type="http://schemas.openxmlformats.org/officeDocument/2006/relationships/image" Target="../media/image17.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 Type="http://schemas.openxmlformats.org/officeDocument/2006/relationships/notesSlide" Target="../notesSlides/notesSlide11.xml"/><Relationship Id="rId16"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18.png"/><Relationship Id="rId9" Type="http://schemas.openxmlformats.org/officeDocument/2006/relationships/image" Target="../media/image72.png"/><Relationship Id="rId14" Type="http://schemas.openxmlformats.org/officeDocument/2006/relationships/image" Target="../media/image77.png"/></Relationships>
</file>

<file path=ppt/slides/_rels/slide12.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89.png"/><Relationship Id="rId18" Type="http://schemas.openxmlformats.org/officeDocument/2006/relationships/image" Target="../media/image94.png"/><Relationship Id="rId26" Type="http://schemas.openxmlformats.org/officeDocument/2006/relationships/image" Target="../media/image102.png"/><Relationship Id="rId3" Type="http://schemas.openxmlformats.org/officeDocument/2006/relationships/image" Target="../media/image17.png"/><Relationship Id="rId21" Type="http://schemas.openxmlformats.org/officeDocument/2006/relationships/image" Target="../media/image97.png"/><Relationship Id="rId7" Type="http://schemas.openxmlformats.org/officeDocument/2006/relationships/image" Target="../media/image11.png"/><Relationship Id="rId12" Type="http://schemas.openxmlformats.org/officeDocument/2006/relationships/image" Target="../media/image88.png"/><Relationship Id="rId17" Type="http://schemas.openxmlformats.org/officeDocument/2006/relationships/image" Target="../media/image93.png"/><Relationship Id="rId25" Type="http://schemas.openxmlformats.org/officeDocument/2006/relationships/image" Target="../media/image101.png"/><Relationship Id="rId2" Type="http://schemas.openxmlformats.org/officeDocument/2006/relationships/notesSlide" Target="../notesSlides/notesSlide12.xml"/><Relationship Id="rId16" Type="http://schemas.openxmlformats.org/officeDocument/2006/relationships/image" Target="../media/image92.png"/><Relationship Id="rId20" Type="http://schemas.openxmlformats.org/officeDocument/2006/relationships/image" Target="../media/image96.png"/><Relationship Id="rId29" Type="http://schemas.openxmlformats.org/officeDocument/2006/relationships/image" Target="../media/image105.png"/><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7.png"/><Relationship Id="rId24" Type="http://schemas.openxmlformats.org/officeDocument/2006/relationships/image" Target="../media/image100.png"/><Relationship Id="rId5" Type="http://schemas.openxmlformats.org/officeDocument/2006/relationships/image" Target="../media/image83.png"/><Relationship Id="rId15" Type="http://schemas.openxmlformats.org/officeDocument/2006/relationships/image" Target="../media/image91.png"/><Relationship Id="rId23" Type="http://schemas.openxmlformats.org/officeDocument/2006/relationships/image" Target="../media/image99.png"/><Relationship Id="rId28" Type="http://schemas.openxmlformats.org/officeDocument/2006/relationships/image" Target="../media/image104.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18.png"/><Relationship Id="rId9" Type="http://schemas.openxmlformats.org/officeDocument/2006/relationships/image" Target="../media/image13.png"/><Relationship Id="rId14" Type="http://schemas.openxmlformats.org/officeDocument/2006/relationships/image" Target="../media/image90.png"/><Relationship Id="rId22" Type="http://schemas.openxmlformats.org/officeDocument/2006/relationships/image" Target="../media/image98.png"/><Relationship Id="rId27" Type="http://schemas.openxmlformats.org/officeDocument/2006/relationships/image" Target="../media/image103.png"/><Relationship Id="rId30"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pic>
        <p:nvPicPr>
          <p:cNvPr id="16" name="Google Shape;16;p3"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 name="Google Shape;17;p3" descr="preencoded.png"/>
          <p:cNvPicPr preferRelativeResize="0"/>
          <p:nvPr/>
        </p:nvPicPr>
        <p:blipFill rotWithShape="1">
          <a:blip r:embed="rId4">
            <a:alphaModFix/>
          </a:blip>
          <a:srcRect/>
          <a:stretch/>
        </p:blipFill>
        <p:spPr>
          <a:xfrm>
            <a:off x="0" y="0"/>
            <a:ext cx="12192000" cy="38100"/>
          </a:xfrm>
          <a:prstGeom prst="rect">
            <a:avLst/>
          </a:prstGeom>
          <a:noFill/>
          <a:ln>
            <a:noFill/>
          </a:ln>
        </p:spPr>
      </p:pic>
      <p:pic>
        <p:nvPicPr>
          <p:cNvPr id="18" name="Google Shape;18;p3" descr="preencoded.png"/>
          <p:cNvPicPr preferRelativeResize="0"/>
          <p:nvPr/>
        </p:nvPicPr>
        <p:blipFill rotWithShape="1">
          <a:blip r:embed="rId5">
            <a:alphaModFix/>
          </a:blip>
          <a:srcRect/>
          <a:stretch/>
        </p:blipFill>
        <p:spPr>
          <a:xfrm>
            <a:off x="5486400" y="2133600"/>
            <a:ext cx="1219200" cy="38100"/>
          </a:xfrm>
          <a:prstGeom prst="rect">
            <a:avLst/>
          </a:prstGeom>
          <a:noFill/>
          <a:ln>
            <a:noFill/>
          </a:ln>
        </p:spPr>
      </p:pic>
      <p:pic>
        <p:nvPicPr>
          <p:cNvPr id="19" name="Google Shape;19;p3" descr="preencoded.png"/>
          <p:cNvPicPr preferRelativeResize="0"/>
          <p:nvPr/>
        </p:nvPicPr>
        <p:blipFill rotWithShape="1">
          <a:blip r:embed="rId6">
            <a:alphaModFix/>
          </a:blip>
          <a:srcRect/>
          <a:stretch/>
        </p:blipFill>
        <p:spPr>
          <a:xfrm>
            <a:off x="4648200" y="3390900"/>
            <a:ext cx="609600" cy="609600"/>
          </a:xfrm>
          <a:prstGeom prst="rect">
            <a:avLst/>
          </a:prstGeom>
          <a:noFill/>
          <a:ln>
            <a:noFill/>
          </a:ln>
        </p:spPr>
      </p:pic>
      <p:pic>
        <p:nvPicPr>
          <p:cNvPr id="20" name="Google Shape;20;p3" descr="preencoded.png"/>
          <p:cNvPicPr preferRelativeResize="0"/>
          <p:nvPr/>
        </p:nvPicPr>
        <p:blipFill rotWithShape="1">
          <a:blip r:embed="rId7">
            <a:alphaModFix/>
          </a:blip>
          <a:srcRect/>
          <a:stretch/>
        </p:blipFill>
        <p:spPr>
          <a:xfrm>
            <a:off x="4867275" y="3562350"/>
            <a:ext cx="171450" cy="266700"/>
          </a:xfrm>
          <a:prstGeom prst="rect">
            <a:avLst/>
          </a:prstGeom>
          <a:noFill/>
          <a:ln>
            <a:noFill/>
          </a:ln>
        </p:spPr>
      </p:pic>
      <p:pic>
        <p:nvPicPr>
          <p:cNvPr id="21" name="Google Shape;21;p3" descr="preencoded.png"/>
          <p:cNvPicPr preferRelativeResize="0"/>
          <p:nvPr/>
        </p:nvPicPr>
        <p:blipFill rotWithShape="1">
          <a:blip r:embed="rId8">
            <a:alphaModFix/>
          </a:blip>
          <a:srcRect/>
          <a:stretch/>
        </p:blipFill>
        <p:spPr>
          <a:xfrm>
            <a:off x="5410200" y="3390900"/>
            <a:ext cx="609600" cy="609600"/>
          </a:xfrm>
          <a:prstGeom prst="rect">
            <a:avLst/>
          </a:prstGeom>
          <a:noFill/>
          <a:ln>
            <a:noFill/>
          </a:ln>
        </p:spPr>
      </p:pic>
      <p:pic>
        <p:nvPicPr>
          <p:cNvPr id="22" name="Google Shape;22;p3" descr="preencoded.png"/>
          <p:cNvPicPr preferRelativeResize="0"/>
          <p:nvPr/>
        </p:nvPicPr>
        <p:blipFill rotWithShape="1">
          <a:blip r:embed="rId9">
            <a:alphaModFix/>
          </a:blip>
          <a:srcRect/>
          <a:stretch/>
        </p:blipFill>
        <p:spPr>
          <a:xfrm>
            <a:off x="5605463" y="3562350"/>
            <a:ext cx="219075" cy="266700"/>
          </a:xfrm>
          <a:prstGeom prst="rect">
            <a:avLst/>
          </a:prstGeom>
          <a:noFill/>
          <a:ln>
            <a:noFill/>
          </a:ln>
        </p:spPr>
      </p:pic>
      <p:pic>
        <p:nvPicPr>
          <p:cNvPr id="23" name="Google Shape;23;p3" descr="preencoded.png"/>
          <p:cNvPicPr preferRelativeResize="0"/>
          <p:nvPr/>
        </p:nvPicPr>
        <p:blipFill rotWithShape="1">
          <a:blip r:embed="rId6">
            <a:alphaModFix/>
          </a:blip>
          <a:srcRect/>
          <a:stretch/>
        </p:blipFill>
        <p:spPr>
          <a:xfrm>
            <a:off x="6172200" y="3390900"/>
            <a:ext cx="609600" cy="609600"/>
          </a:xfrm>
          <a:prstGeom prst="rect">
            <a:avLst/>
          </a:prstGeom>
          <a:noFill/>
          <a:ln>
            <a:noFill/>
          </a:ln>
        </p:spPr>
      </p:pic>
      <p:pic>
        <p:nvPicPr>
          <p:cNvPr id="24" name="Google Shape;24;p3" descr="preencoded.png"/>
          <p:cNvPicPr preferRelativeResize="0"/>
          <p:nvPr/>
        </p:nvPicPr>
        <p:blipFill rotWithShape="1">
          <a:blip r:embed="rId10">
            <a:alphaModFix/>
          </a:blip>
          <a:srcRect/>
          <a:stretch/>
        </p:blipFill>
        <p:spPr>
          <a:xfrm>
            <a:off x="6381750" y="3562350"/>
            <a:ext cx="190500" cy="266700"/>
          </a:xfrm>
          <a:prstGeom prst="rect">
            <a:avLst/>
          </a:prstGeom>
          <a:noFill/>
          <a:ln>
            <a:noFill/>
          </a:ln>
        </p:spPr>
      </p:pic>
      <p:pic>
        <p:nvPicPr>
          <p:cNvPr id="25" name="Google Shape;25;p3" descr="preencoded.png"/>
          <p:cNvPicPr preferRelativeResize="0"/>
          <p:nvPr/>
        </p:nvPicPr>
        <p:blipFill rotWithShape="1">
          <a:blip r:embed="rId8">
            <a:alphaModFix/>
          </a:blip>
          <a:srcRect/>
          <a:stretch/>
        </p:blipFill>
        <p:spPr>
          <a:xfrm>
            <a:off x="6934200" y="3390900"/>
            <a:ext cx="609600" cy="609600"/>
          </a:xfrm>
          <a:prstGeom prst="rect">
            <a:avLst/>
          </a:prstGeom>
          <a:noFill/>
          <a:ln>
            <a:noFill/>
          </a:ln>
        </p:spPr>
      </p:pic>
      <p:pic>
        <p:nvPicPr>
          <p:cNvPr id="26" name="Google Shape;26;p3" descr="preencoded.png"/>
          <p:cNvPicPr preferRelativeResize="0"/>
          <p:nvPr/>
        </p:nvPicPr>
        <p:blipFill rotWithShape="1">
          <a:blip r:embed="rId11">
            <a:alphaModFix/>
          </a:blip>
          <a:srcRect/>
          <a:stretch/>
        </p:blipFill>
        <p:spPr>
          <a:xfrm>
            <a:off x="7143750" y="3562350"/>
            <a:ext cx="190500" cy="266700"/>
          </a:xfrm>
          <a:prstGeom prst="rect">
            <a:avLst/>
          </a:prstGeom>
          <a:noFill/>
          <a:ln>
            <a:noFill/>
          </a:ln>
        </p:spPr>
      </p:pic>
      <p:pic>
        <p:nvPicPr>
          <p:cNvPr id="27" name="Google Shape;27;p3" descr="preencoded.png"/>
          <p:cNvPicPr preferRelativeResize="0"/>
          <p:nvPr/>
        </p:nvPicPr>
        <p:blipFill rotWithShape="1">
          <a:blip r:embed="rId12">
            <a:alphaModFix/>
          </a:blip>
          <a:srcRect/>
          <a:stretch/>
        </p:blipFill>
        <p:spPr>
          <a:xfrm>
            <a:off x="4629448" y="5029200"/>
            <a:ext cx="457200" cy="457200"/>
          </a:xfrm>
          <a:prstGeom prst="rect">
            <a:avLst/>
          </a:prstGeom>
          <a:noFill/>
          <a:ln>
            <a:noFill/>
          </a:ln>
        </p:spPr>
      </p:pic>
      <p:pic>
        <p:nvPicPr>
          <p:cNvPr id="28" name="Google Shape;28;p3" descr="preencoded.png"/>
          <p:cNvPicPr preferRelativeResize="0"/>
          <p:nvPr/>
        </p:nvPicPr>
        <p:blipFill rotWithShape="1">
          <a:blip r:embed="rId13">
            <a:alphaModFix/>
          </a:blip>
          <a:srcRect/>
          <a:stretch/>
        </p:blipFill>
        <p:spPr>
          <a:xfrm>
            <a:off x="4791373" y="5181600"/>
            <a:ext cx="133350" cy="152400"/>
          </a:xfrm>
          <a:prstGeom prst="rect">
            <a:avLst/>
          </a:prstGeom>
          <a:noFill/>
          <a:ln>
            <a:noFill/>
          </a:ln>
        </p:spPr>
      </p:pic>
      <p:pic>
        <p:nvPicPr>
          <p:cNvPr id="29" name="Google Shape;29;p3" descr="preencoded.png"/>
          <p:cNvPicPr preferRelativeResize="0"/>
          <p:nvPr/>
        </p:nvPicPr>
        <p:blipFill rotWithShape="1">
          <a:blip r:embed="rId14">
            <a:alphaModFix/>
          </a:blip>
          <a:srcRect/>
          <a:stretch/>
        </p:blipFill>
        <p:spPr>
          <a:xfrm>
            <a:off x="5457081" y="5029200"/>
            <a:ext cx="457200" cy="457200"/>
          </a:xfrm>
          <a:prstGeom prst="rect">
            <a:avLst/>
          </a:prstGeom>
          <a:noFill/>
          <a:ln>
            <a:noFill/>
          </a:ln>
        </p:spPr>
      </p:pic>
      <p:pic>
        <p:nvPicPr>
          <p:cNvPr id="30" name="Google Shape;30;p3" descr="preencoded.png"/>
          <p:cNvPicPr preferRelativeResize="0"/>
          <p:nvPr/>
        </p:nvPicPr>
        <p:blipFill rotWithShape="1">
          <a:blip r:embed="rId15">
            <a:alphaModFix/>
          </a:blip>
          <a:srcRect/>
          <a:stretch/>
        </p:blipFill>
        <p:spPr>
          <a:xfrm>
            <a:off x="5619006" y="5181600"/>
            <a:ext cx="133350" cy="152400"/>
          </a:xfrm>
          <a:prstGeom prst="rect">
            <a:avLst/>
          </a:prstGeom>
          <a:noFill/>
          <a:ln>
            <a:noFill/>
          </a:ln>
        </p:spPr>
      </p:pic>
      <p:pic>
        <p:nvPicPr>
          <p:cNvPr id="31" name="Google Shape;31;p3" descr="preencoded.png"/>
          <p:cNvPicPr preferRelativeResize="0"/>
          <p:nvPr/>
        </p:nvPicPr>
        <p:blipFill rotWithShape="1">
          <a:blip r:embed="rId16">
            <a:alphaModFix/>
          </a:blip>
          <a:srcRect/>
          <a:stretch/>
        </p:blipFill>
        <p:spPr>
          <a:xfrm>
            <a:off x="6313884" y="5029200"/>
            <a:ext cx="457200" cy="457200"/>
          </a:xfrm>
          <a:prstGeom prst="rect">
            <a:avLst/>
          </a:prstGeom>
          <a:noFill/>
          <a:ln>
            <a:noFill/>
          </a:ln>
        </p:spPr>
      </p:pic>
      <p:pic>
        <p:nvPicPr>
          <p:cNvPr id="32" name="Google Shape;32;p3" descr="preencoded.png"/>
          <p:cNvPicPr preferRelativeResize="0"/>
          <p:nvPr/>
        </p:nvPicPr>
        <p:blipFill rotWithShape="1">
          <a:blip r:embed="rId13">
            <a:alphaModFix/>
          </a:blip>
          <a:srcRect/>
          <a:stretch/>
        </p:blipFill>
        <p:spPr>
          <a:xfrm>
            <a:off x="6475809" y="5181600"/>
            <a:ext cx="133350" cy="152400"/>
          </a:xfrm>
          <a:prstGeom prst="rect">
            <a:avLst/>
          </a:prstGeom>
          <a:noFill/>
          <a:ln>
            <a:noFill/>
          </a:ln>
        </p:spPr>
      </p:pic>
      <p:pic>
        <p:nvPicPr>
          <p:cNvPr id="33" name="Google Shape;33;p3" descr="preencoded.png"/>
          <p:cNvPicPr preferRelativeResize="0"/>
          <p:nvPr/>
        </p:nvPicPr>
        <p:blipFill rotWithShape="1">
          <a:blip r:embed="rId17">
            <a:alphaModFix/>
          </a:blip>
          <a:srcRect/>
          <a:stretch/>
        </p:blipFill>
        <p:spPr>
          <a:xfrm>
            <a:off x="7170688" y="5029200"/>
            <a:ext cx="457200" cy="457200"/>
          </a:xfrm>
          <a:prstGeom prst="rect">
            <a:avLst/>
          </a:prstGeom>
          <a:noFill/>
          <a:ln>
            <a:noFill/>
          </a:ln>
        </p:spPr>
      </p:pic>
      <p:pic>
        <p:nvPicPr>
          <p:cNvPr id="34" name="Google Shape;34;p3" descr="preencoded.png"/>
          <p:cNvPicPr preferRelativeResize="0"/>
          <p:nvPr/>
        </p:nvPicPr>
        <p:blipFill rotWithShape="1">
          <a:blip r:embed="rId15">
            <a:alphaModFix/>
          </a:blip>
          <a:srcRect/>
          <a:stretch/>
        </p:blipFill>
        <p:spPr>
          <a:xfrm>
            <a:off x="7332613" y="5181600"/>
            <a:ext cx="133350" cy="152400"/>
          </a:xfrm>
          <a:prstGeom prst="rect">
            <a:avLst/>
          </a:prstGeom>
          <a:noFill/>
          <a:ln>
            <a:noFill/>
          </a:ln>
        </p:spPr>
      </p:pic>
      <p:pic>
        <p:nvPicPr>
          <p:cNvPr id="35" name="Google Shape;35;p3" descr="preencoded.png"/>
          <p:cNvPicPr preferRelativeResize="0"/>
          <p:nvPr/>
        </p:nvPicPr>
        <p:blipFill rotWithShape="1">
          <a:blip r:embed="rId18">
            <a:alphaModFix/>
          </a:blip>
          <a:srcRect/>
          <a:stretch/>
        </p:blipFill>
        <p:spPr>
          <a:xfrm>
            <a:off x="0" y="6819900"/>
            <a:ext cx="12192000" cy="38100"/>
          </a:xfrm>
          <a:prstGeom prst="rect">
            <a:avLst/>
          </a:prstGeom>
          <a:noFill/>
          <a:ln>
            <a:noFill/>
          </a:ln>
        </p:spPr>
      </p:pic>
      <p:sp>
        <p:nvSpPr>
          <p:cNvPr id="36" name="Google Shape;36;p3"/>
          <p:cNvSpPr/>
          <p:nvPr/>
        </p:nvSpPr>
        <p:spPr>
          <a:xfrm>
            <a:off x="609600" y="1066800"/>
            <a:ext cx="10972800" cy="9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F2937"/>
              </a:buClr>
              <a:buSzPts val="3600"/>
              <a:buFont typeface="Arial"/>
              <a:buNone/>
            </a:pPr>
            <a:r>
              <a:rPr lang="en-US" sz="3600" b="1" i="0" u="none" strike="noStrike" cap="none">
                <a:solidFill>
                  <a:srgbClr val="1F2937"/>
                </a:solidFill>
                <a:latin typeface="Arial"/>
                <a:ea typeface="Arial"/>
                <a:cs typeface="Arial"/>
                <a:sym typeface="Arial"/>
              </a:rPr>
              <a:t>Food Supply Chain Traceability &amp; Recall Data Hub</a:t>
            </a:r>
            <a:endParaRPr sz="3600" b="0" i="0" u="none" strike="noStrike" cap="none">
              <a:solidFill>
                <a:schemeClr val="dk1"/>
              </a:solidFill>
              <a:latin typeface="Calibri"/>
              <a:ea typeface="Calibri"/>
              <a:cs typeface="Calibri"/>
              <a:sym typeface="Calibri"/>
            </a:endParaRPr>
          </a:p>
        </p:txBody>
      </p:sp>
      <p:sp>
        <p:nvSpPr>
          <p:cNvPr id="37" name="Google Shape;37;p3"/>
          <p:cNvSpPr/>
          <p:nvPr/>
        </p:nvSpPr>
        <p:spPr>
          <a:xfrm>
            <a:off x="609600" y="2400300"/>
            <a:ext cx="10972800" cy="304800"/>
          </a:xfrm>
          <a:prstGeom prst="rect">
            <a:avLst/>
          </a:prstGeom>
          <a:noFill/>
          <a:ln>
            <a:noFill/>
          </a:ln>
        </p:spPr>
        <p:txBody>
          <a:bodyPr spcFirstLastPara="1" wrap="square" lIns="0" tIns="0" rIns="0" bIns="0" anchor="t" anchorCtr="0">
            <a:noAutofit/>
          </a:bodyPr>
          <a:lstStyle/>
          <a:p>
            <a:pPr marL="0" marR="0" lvl="0" indent="0" algn="ctr" rtl="0">
              <a:lnSpc>
                <a:spcPct val="133333"/>
              </a:lnSpc>
              <a:spcBef>
                <a:spcPts val="0"/>
              </a:spcBef>
              <a:spcAft>
                <a:spcPts val="0"/>
              </a:spcAft>
              <a:buClr>
                <a:srgbClr val="4B5563"/>
              </a:buClr>
              <a:buSzPts val="1800"/>
              <a:buFont typeface="Arial"/>
              <a:buNone/>
            </a:pPr>
            <a:r>
              <a:rPr lang="en-US" sz="1800" b="0" i="0" u="none" strike="noStrike" cap="none">
                <a:solidFill>
                  <a:srgbClr val="4B5563"/>
                </a:solidFill>
                <a:latin typeface="Arial"/>
                <a:ea typeface="Arial"/>
                <a:cs typeface="Arial"/>
                <a:sym typeface="Arial"/>
              </a:rPr>
              <a:t>Database Design Project</a:t>
            </a:r>
            <a:endParaRPr sz="1800" b="0" i="0" u="none" strike="noStrike" cap="none">
              <a:solidFill>
                <a:schemeClr val="dk1"/>
              </a:solidFill>
              <a:latin typeface="Calibri"/>
              <a:ea typeface="Calibri"/>
              <a:cs typeface="Calibri"/>
              <a:sym typeface="Calibri"/>
            </a:endParaRPr>
          </a:p>
        </p:txBody>
      </p:sp>
      <p:sp>
        <p:nvSpPr>
          <p:cNvPr id="38" name="Google Shape;38;p3"/>
          <p:cNvSpPr/>
          <p:nvPr/>
        </p:nvSpPr>
        <p:spPr>
          <a:xfrm>
            <a:off x="4563963" y="4610100"/>
            <a:ext cx="3063925" cy="2667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374151"/>
              </a:buClr>
              <a:buSzPts val="1500"/>
              <a:buFont typeface="Arial"/>
              <a:buNone/>
            </a:pPr>
            <a:r>
              <a:rPr lang="en-US" sz="1500" b="1" i="0" u="none" strike="noStrike" cap="none">
                <a:solidFill>
                  <a:srgbClr val="374151"/>
                </a:solidFill>
                <a:latin typeface="Arial"/>
                <a:ea typeface="Arial"/>
                <a:cs typeface="Arial"/>
                <a:sym typeface="Arial"/>
              </a:rPr>
              <a:t>Team Members</a:t>
            </a:r>
            <a:endParaRPr sz="1500" b="0" i="0" u="none" strike="noStrike" cap="none">
              <a:solidFill>
                <a:schemeClr val="dk1"/>
              </a:solidFill>
              <a:latin typeface="Calibri"/>
              <a:ea typeface="Calibri"/>
              <a:cs typeface="Calibri"/>
              <a:sym typeface="Calibri"/>
            </a:endParaRPr>
          </a:p>
        </p:txBody>
      </p:sp>
      <p:sp>
        <p:nvSpPr>
          <p:cNvPr id="39" name="Google Shape;39;p3"/>
          <p:cNvSpPr/>
          <p:nvPr/>
        </p:nvSpPr>
        <p:spPr>
          <a:xfrm>
            <a:off x="4505132" y="5562600"/>
            <a:ext cx="705981" cy="22860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Prerana</a:t>
            </a:r>
            <a:endParaRPr sz="1200" b="0" i="0" u="none" strike="noStrike" cap="none">
              <a:solidFill>
                <a:schemeClr val="dk1"/>
              </a:solidFill>
              <a:latin typeface="Calibri"/>
              <a:ea typeface="Calibri"/>
              <a:cs typeface="Calibri"/>
              <a:sym typeface="Calibri"/>
            </a:endParaRPr>
          </a:p>
        </p:txBody>
      </p:sp>
      <p:sp>
        <p:nvSpPr>
          <p:cNvPr id="40" name="Google Shape;40;p3"/>
          <p:cNvSpPr/>
          <p:nvPr/>
        </p:nvSpPr>
        <p:spPr>
          <a:xfrm>
            <a:off x="5411361" y="5562600"/>
            <a:ext cx="548640" cy="22860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Harini</a:t>
            </a:r>
            <a:endParaRPr sz="1200" b="0" i="0" u="none" strike="noStrike" cap="none">
              <a:solidFill>
                <a:schemeClr val="dk1"/>
              </a:solidFill>
              <a:latin typeface="Calibri"/>
              <a:ea typeface="Calibri"/>
              <a:cs typeface="Calibri"/>
              <a:sym typeface="Calibri"/>
            </a:endParaRPr>
          </a:p>
        </p:txBody>
      </p:sp>
      <p:sp>
        <p:nvSpPr>
          <p:cNvPr id="41" name="Google Shape;41;p3"/>
          <p:cNvSpPr/>
          <p:nvPr/>
        </p:nvSpPr>
        <p:spPr>
          <a:xfrm>
            <a:off x="6154400" y="5562600"/>
            <a:ext cx="776168" cy="22860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Riyanshi</a:t>
            </a:r>
            <a:endParaRPr sz="1200" b="0" i="0" u="none" strike="noStrike" cap="none">
              <a:solidFill>
                <a:schemeClr val="dk1"/>
              </a:solidFill>
              <a:latin typeface="Calibri"/>
              <a:ea typeface="Calibri"/>
              <a:cs typeface="Calibri"/>
              <a:sym typeface="Calibri"/>
            </a:endParaRPr>
          </a:p>
        </p:txBody>
      </p:sp>
      <p:sp>
        <p:nvSpPr>
          <p:cNvPr id="42" name="Google Shape;42;p3"/>
          <p:cNvSpPr/>
          <p:nvPr/>
        </p:nvSpPr>
        <p:spPr>
          <a:xfrm>
            <a:off x="7124968" y="5562600"/>
            <a:ext cx="548640" cy="22860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Hardi</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pic>
        <p:nvPicPr>
          <p:cNvPr id="48" name="Google Shape;48;p4"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9" name="Google Shape;49;p4"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50" name="Google Shape;50;p4" descr="preencoded.png"/>
          <p:cNvPicPr preferRelativeResize="0"/>
          <p:nvPr/>
        </p:nvPicPr>
        <p:blipFill rotWithShape="1">
          <a:blip r:embed="rId5">
            <a:alphaModFix/>
          </a:blip>
          <a:srcRect/>
          <a:stretch/>
        </p:blipFill>
        <p:spPr>
          <a:xfrm>
            <a:off x="381000" y="1181100"/>
            <a:ext cx="257175" cy="228600"/>
          </a:xfrm>
          <a:prstGeom prst="rect">
            <a:avLst/>
          </a:prstGeom>
          <a:noFill/>
          <a:ln>
            <a:noFill/>
          </a:ln>
        </p:spPr>
      </p:pic>
      <p:pic>
        <p:nvPicPr>
          <p:cNvPr id="51" name="Google Shape;51;p4" descr="preencoded.png"/>
          <p:cNvPicPr preferRelativeResize="0"/>
          <p:nvPr/>
        </p:nvPicPr>
        <p:blipFill rotWithShape="1">
          <a:blip r:embed="rId6">
            <a:alphaModFix/>
          </a:blip>
          <a:srcRect/>
          <a:stretch/>
        </p:blipFill>
        <p:spPr>
          <a:xfrm>
            <a:off x="381000" y="3009900"/>
            <a:ext cx="228600" cy="228600"/>
          </a:xfrm>
          <a:prstGeom prst="rect">
            <a:avLst/>
          </a:prstGeom>
          <a:noFill/>
          <a:ln>
            <a:noFill/>
          </a:ln>
        </p:spPr>
      </p:pic>
      <p:pic>
        <p:nvPicPr>
          <p:cNvPr id="52" name="Google Shape;52;p4" descr="preencoded.png"/>
          <p:cNvPicPr preferRelativeResize="0"/>
          <p:nvPr/>
        </p:nvPicPr>
        <p:blipFill rotWithShape="1">
          <a:blip r:embed="rId7">
            <a:alphaModFix/>
          </a:blip>
          <a:srcRect/>
          <a:stretch/>
        </p:blipFill>
        <p:spPr>
          <a:xfrm>
            <a:off x="6096000" y="1143000"/>
            <a:ext cx="5715000" cy="4191000"/>
          </a:xfrm>
          <a:prstGeom prst="rect">
            <a:avLst/>
          </a:prstGeom>
          <a:noFill/>
          <a:ln>
            <a:noFill/>
          </a:ln>
        </p:spPr>
      </p:pic>
      <p:pic>
        <p:nvPicPr>
          <p:cNvPr id="53" name="Google Shape;53;p4" descr="preencoded.png"/>
          <p:cNvPicPr preferRelativeResize="0"/>
          <p:nvPr/>
        </p:nvPicPr>
        <p:blipFill rotWithShape="1">
          <a:blip r:embed="rId8">
            <a:alphaModFix/>
          </a:blip>
          <a:srcRect/>
          <a:stretch/>
        </p:blipFill>
        <p:spPr>
          <a:xfrm>
            <a:off x="6400800" y="1181100"/>
            <a:ext cx="171450" cy="228600"/>
          </a:xfrm>
          <a:prstGeom prst="rect">
            <a:avLst/>
          </a:prstGeom>
          <a:noFill/>
          <a:ln>
            <a:noFill/>
          </a:ln>
        </p:spPr>
      </p:pic>
      <p:pic>
        <p:nvPicPr>
          <p:cNvPr id="54" name="Google Shape;54;p4" descr="preencoded.png"/>
          <p:cNvPicPr preferRelativeResize="0"/>
          <p:nvPr/>
        </p:nvPicPr>
        <p:blipFill rotWithShape="1">
          <a:blip r:embed="rId9">
            <a:alphaModFix/>
          </a:blip>
          <a:srcRect/>
          <a:stretch/>
        </p:blipFill>
        <p:spPr>
          <a:xfrm>
            <a:off x="6400800" y="3848100"/>
            <a:ext cx="228600" cy="228600"/>
          </a:xfrm>
          <a:prstGeom prst="rect">
            <a:avLst/>
          </a:prstGeom>
          <a:noFill/>
          <a:ln>
            <a:noFill/>
          </a:ln>
        </p:spPr>
      </p:pic>
      <p:pic>
        <p:nvPicPr>
          <p:cNvPr id="55" name="Google Shape;55;p4" descr="preencoded.png"/>
          <p:cNvPicPr preferRelativeResize="0"/>
          <p:nvPr/>
        </p:nvPicPr>
        <p:blipFill rotWithShape="1">
          <a:blip r:embed="rId10">
            <a:alphaModFix/>
          </a:blip>
          <a:srcRect/>
          <a:stretch/>
        </p:blipFill>
        <p:spPr>
          <a:xfrm>
            <a:off x="0" y="5715000"/>
            <a:ext cx="12192000" cy="571500"/>
          </a:xfrm>
          <a:prstGeom prst="rect">
            <a:avLst/>
          </a:prstGeom>
          <a:noFill/>
          <a:ln>
            <a:noFill/>
          </a:ln>
        </p:spPr>
      </p:pic>
      <p:sp>
        <p:nvSpPr>
          <p:cNvPr id="56" name="Google Shape;56;p4"/>
          <p:cNvSpPr/>
          <p:nvPr/>
        </p:nvSpPr>
        <p:spPr>
          <a:xfrm>
            <a:off x="381000" y="209550"/>
            <a:ext cx="3299877"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Project Overview</a:t>
            </a:r>
            <a:endParaRPr sz="2250" b="0" i="0" u="none" strike="noStrike" cap="none">
              <a:solidFill>
                <a:schemeClr val="dk1"/>
              </a:solidFill>
              <a:latin typeface="Calibri"/>
              <a:ea typeface="Calibri"/>
              <a:cs typeface="Calibri"/>
              <a:sym typeface="Calibri"/>
            </a:endParaRPr>
          </a:p>
        </p:txBody>
      </p:sp>
      <p:sp>
        <p:nvSpPr>
          <p:cNvPr id="57" name="Google Shape;57;p4"/>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58" name="Google Shape;58;p4"/>
          <p:cNvSpPr/>
          <p:nvPr/>
        </p:nvSpPr>
        <p:spPr>
          <a:xfrm>
            <a:off x="752475" y="11430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Project Summary</a:t>
            </a:r>
            <a:endParaRPr sz="1800" b="0" i="0" u="none" strike="noStrike" cap="none">
              <a:solidFill>
                <a:schemeClr val="dk1"/>
              </a:solidFill>
              <a:latin typeface="Calibri"/>
              <a:ea typeface="Calibri"/>
              <a:cs typeface="Calibri"/>
              <a:sym typeface="Calibri"/>
            </a:endParaRPr>
          </a:p>
        </p:txBody>
      </p:sp>
      <p:sp>
        <p:nvSpPr>
          <p:cNvPr id="59" name="Google Shape;59;p4"/>
          <p:cNvSpPr/>
          <p:nvPr/>
        </p:nvSpPr>
        <p:spPr>
          <a:xfrm>
            <a:off x="381000" y="1600200"/>
            <a:ext cx="5410200" cy="10668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A database design project aimed at creating a comprehensive traceability and recall management system for the food supply chain. The system will enable tracking of food products from farm to table and facilitate quick recalls when necessary.</a:t>
            </a:r>
            <a:endParaRPr sz="1350" b="0" i="0" u="none" strike="noStrike" cap="none">
              <a:solidFill>
                <a:schemeClr val="dk1"/>
              </a:solidFill>
              <a:latin typeface="Calibri"/>
              <a:ea typeface="Calibri"/>
              <a:cs typeface="Calibri"/>
              <a:sym typeface="Calibri"/>
            </a:endParaRPr>
          </a:p>
        </p:txBody>
      </p:sp>
      <p:sp>
        <p:nvSpPr>
          <p:cNvPr id="60" name="Google Shape;60;p4"/>
          <p:cNvSpPr/>
          <p:nvPr/>
        </p:nvSpPr>
        <p:spPr>
          <a:xfrm>
            <a:off x="723900" y="29718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Objectives</a:t>
            </a:r>
            <a:endParaRPr sz="1800" b="0" i="0" u="none" strike="noStrike" cap="none">
              <a:solidFill>
                <a:schemeClr val="dk1"/>
              </a:solidFill>
              <a:latin typeface="Calibri"/>
              <a:ea typeface="Calibri"/>
              <a:cs typeface="Calibri"/>
              <a:sym typeface="Calibri"/>
            </a:endParaRPr>
          </a:p>
        </p:txBody>
      </p:sp>
      <p:sp>
        <p:nvSpPr>
          <p:cNvPr id="61" name="Google Shape;61;p4"/>
          <p:cNvSpPr/>
          <p:nvPr/>
        </p:nvSpPr>
        <p:spPr>
          <a:xfrm>
            <a:off x="419100" y="3429000"/>
            <a:ext cx="5372100" cy="5334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Develop a normalized database schema for food supply chain data</a:t>
            </a:r>
            <a:endParaRPr sz="1350" b="0" i="0" u="none" strike="noStrike" cap="none">
              <a:solidFill>
                <a:schemeClr val="dk1"/>
              </a:solidFill>
              <a:latin typeface="Calibri"/>
              <a:ea typeface="Calibri"/>
              <a:cs typeface="Calibri"/>
              <a:sym typeface="Calibri"/>
            </a:endParaRPr>
          </a:p>
        </p:txBody>
      </p:sp>
      <p:sp>
        <p:nvSpPr>
          <p:cNvPr id="62" name="Google Shape;62;p4"/>
          <p:cNvSpPr/>
          <p:nvPr/>
        </p:nvSpPr>
        <p:spPr>
          <a:xfrm>
            <a:off x="419100" y="40386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Implement efficient query mechanisms for traceability</a:t>
            </a:r>
            <a:endParaRPr sz="1350" b="0" i="0" u="none" strike="noStrike" cap="none">
              <a:solidFill>
                <a:schemeClr val="dk1"/>
              </a:solidFill>
              <a:latin typeface="Calibri"/>
              <a:ea typeface="Calibri"/>
              <a:cs typeface="Calibri"/>
              <a:sym typeface="Calibri"/>
            </a:endParaRPr>
          </a:p>
        </p:txBody>
      </p:sp>
      <p:sp>
        <p:nvSpPr>
          <p:cNvPr id="63" name="Google Shape;63;p4"/>
          <p:cNvSpPr/>
          <p:nvPr/>
        </p:nvSpPr>
        <p:spPr>
          <a:xfrm>
            <a:off x="419100" y="43815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Create visualization tools for supply chain insights</a:t>
            </a:r>
            <a:endParaRPr sz="1350" b="0" i="0" u="none" strike="noStrike" cap="none">
              <a:solidFill>
                <a:schemeClr val="dk1"/>
              </a:solidFill>
              <a:latin typeface="Calibri"/>
              <a:ea typeface="Calibri"/>
              <a:cs typeface="Calibri"/>
              <a:sym typeface="Calibri"/>
            </a:endParaRPr>
          </a:p>
        </p:txBody>
      </p:sp>
      <p:sp>
        <p:nvSpPr>
          <p:cNvPr id="64" name="Google Shape;64;p4"/>
          <p:cNvSpPr/>
          <p:nvPr/>
        </p:nvSpPr>
        <p:spPr>
          <a:xfrm>
            <a:off x="419100" y="47244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Design a user-friendly interface for data entry and retrieval</a:t>
            </a:r>
            <a:endParaRPr sz="1350" b="0" i="0" u="none" strike="noStrike" cap="none">
              <a:solidFill>
                <a:schemeClr val="dk1"/>
              </a:solidFill>
              <a:latin typeface="Calibri"/>
              <a:ea typeface="Calibri"/>
              <a:cs typeface="Calibri"/>
              <a:sym typeface="Calibri"/>
            </a:endParaRPr>
          </a:p>
        </p:txBody>
      </p:sp>
      <p:sp>
        <p:nvSpPr>
          <p:cNvPr id="65" name="Google Shape;65;p4"/>
          <p:cNvSpPr/>
          <p:nvPr/>
        </p:nvSpPr>
        <p:spPr>
          <a:xfrm>
            <a:off x="6686550" y="1143000"/>
            <a:ext cx="649224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Purpose &amp; Applications</a:t>
            </a:r>
            <a:endParaRPr sz="1800" b="0" i="0" u="none" strike="noStrike" cap="none">
              <a:solidFill>
                <a:schemeClr val="dk1"/>
              </a:solidFill>
              <a:latin typeface="Calibri"/>
              <a:ea typeface="Calibri"/>
              <a:cs typeface="Calibri"/>
              <a:sym typeface="Calibri"/>
            </a:endParaRPr>
          </a:p>
        </p:txBody>
      </p:sp>
      <p:sp>
        <p:nvSpPr>
          <p:cNvPr id="66" name="Google Shape;66;p4"/>
          <p:cNvSpPr/>
          <p:nvPr/>
        </p:nvSpPr>
        <p:spPr>
          <a:xfrm>
            <a:off x="6438900" y="1600200"/>
            <a:ext cx="5372100" cy="5334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Enable rapid traceability of food products throughout the supply chain</a:t>
            </a:r>
            <a:endParaRPr sz="1350" b="0" i="0" u="none" strike="noStrike" cap="none">
              <a:solidFill>
                <a:schemeClr val="dk1"/>
              </a:solidFill>
              <a:latin typeface="Calibri"/>
              <a:ea typeface="Calibri"/>
              <a:cs typeface="Calibri"/>
              <a:sym typeface="Calibri"/>
            </a:endParaRPr>
          </a:p>
        </p:txBody>
      </p:sp>
      <p:sp>
        <p:nvSpPr>
          <p:cNvPr id="67" name="Google Shape;67;p4"/>
          <p:cNvSpPr/>
          <p:nvPr/>
        </p:nvSpPr>
        <p:spPr>
          <a:xfrm>
            <a:off x="6438900" y="22098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Facilitate targeted recalls instead of broad withdrawals</a:t>
            </a:r>
            <a:endParaRPr sz="1350" b="0" i="0" u="none" strike="noStrike" cap="none">
              <a:solidFill>
                <a:schemeClr val="dk1"/>
              </a:solidFill>
              <a:latin typeface="Calibri"/>
              <a:ea typeface="Calibri"/>
              <a:cs typeface="Calibri"/>
              <a:sym typeface="Calibri"/>
            </a:endParaRPr>
          </a:p>
        </p:txBody>
      </p:sp>
      <p:sp>
        <p:nvSpPr>
          <p:cNvPr id="68" name="Google Shape;68;p4"/>
          <p:cNvSpPr/>
          <p:nvPr/>
        </p:nvSpPr>
        <p:spPr>
          <a:xfrm>
            <a:off x="6438900" y="25527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Improve supplier reliability tracking and management</a:t>
            </a:r>
            <a:endParaRPr sz="1350" b="0" i="0" u="none" strike="noStrike" cap="none">
              <a:solidFill>
                <a:schemeClr val="dk1"/>
              </a:solidFill>
              <a:latin typeface="Calibri"/>
              <a:ea typeface="Calibri"/>
              <a:cs typeface="Calibri"/>
              <a:sym typeface="Calibri"/>
            </a:endParaRPr>
          </a:p>
        </p:txBody>
      </p:sp>
      <p:sp>
        <p:nvSpPr>
          <p:cNvPr id="69" name="Google Shape;69;p4"/>
          <p:cNvSpPr/>
          <p:nvPr/>
        </p:nvSpPr>
        <p:spPr>
          <a:xfrm>
            <a:off x="6438900" y="28956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Provide data-driven insights for supply chain optimization</a:t>
            </a:r>
            <a:endParaRPr sz="1350" b="0" i="0" u="none" strike="noStrike" cap="none">
              <a:solidFill>
                <a:schemeClr val="dk1"/>
              </a:solidFill>
              <a:latin typeface="Calibri"/>
              <a:ea typeface="Calibri"/>
              <a:cs typeface="Calibri"/>
              <a:sym typeface="Calibri"/>
            </a:endParaRPr>
          </a:p>
        </p:txBody>
      </p:sp>
      <p:sp>
        <p:nvSpPr>
          <p:cNvPr id="70" name="Google Shape;70;p4"/>
          <p:cNvSpPr/>
          <p:nvPr/>
        </p:nvSpPr>
        <p:spPr>
          <a:xfrm>
            <a:off x="6438900" y="3238500"/>
            <a:ext cx="6446520" cy="266700"/>
          </a:xfrm>
          <a:prstGeom prst="rect">
            <a:avLst/>
          </a:prstGeom>
          <a:noFill/>
          <a:ln>
            <a:noFill/>
          </a:ln>
        </p:spPr>
        <p:txBody>
          <a:bodyPr spcFirstLastPara="1" wrap="square" lIns="0" tIns="0" rIns="0" bIns="0" anchor="t" anchorCtr="0">
            <a:noAutofit/>
          </a:bodyPr>
          <a:lstStyle/>
          <a:p>
            <a:pPr marL="342900" marR="0" lvl="0" indent="-342900" algn="l" rtl="0">
              <a:lnSpc>
                <a:spcPct val="155555"/>
              </a:lnSpc>
              <a:spcBef>
                <a:spcPts val="0"/>
              </a:spcBef>
              <a:spcAft>
                <a:spcPts val="0"/>
              </a:spcAft>
              <a:buClr>
                <a:srgbClr val="000000"/>
              </a:buClr>
              <a:buSzPts val="1350"/>
              <a:buFont typeface="Arial"/>
              <a:buChar char="•"/>
            </a:pPr>
            <a:r>
              <a:rPr lang="en-US" sz="1350" b="0" i="0" u="none" strike="noStrike" cap="none">
                <a:solidFill>
                  <a:srgbClr val="000000"/>
                </a:solidFill>
                <a:latin typeface="Arial"/>
                <a:ea typeface="Arial"/>
                <a:cs typeface="Arial"/>
                <a:sym typeface="Arial"/>
              </a:rPr>
              <a:t>Enhance food safety monitoring and compliance</a:t>
            </a:r>
            <a:endParaRPr sz="1350" b="0" i="0" u="none" strike="noStrike" cap="none">
              <a:solidFill>
                <a:schemeClr val="dk1"/>
              </a:solidFill>
              <a:latin typeface="Calibri"/>
              <a:ea typeface="Calibri"/>
              <a:cs typeface="Calibri"/>
              <a:sym typeface="Calibri"/>
            </a:endParaRPr>
          </a:p>
        </p:txBody>
      </p:sp>
      <p:sp>
        <p:nvSpPr>
          <p:cNvPr id="71" name="Google Shape;71;p4"/>
          <p:cNvSpPr/>
          <p:nvPr/>
        </p:nvSpPr>
        <p:spPr>
          <a:xfrm>
            <a:off x="6743700" y="38100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Real-World Impact</a:t>
            </a:r>
            <a:endParaRPr sz="1800" b="0" i="0" u="none" strike="noStrike" cap="none">
              <a:solidFill>
                <a:schemeClr val="dk1"/>
              </a:solidFill>
              <a:latin typeface="Calibri"/>
              <a:ea typeface="Calibri"/>
              <a:cs typeface="Calibri"/>
              <a:sym typeface="Calibri"/>
            </a:endParaRPr>
          </a:p>
        </p:txBody>
      </p:sp>
      <p:sp>
        <p:nvSpPr>
          <p:cNvPr id="72" name="Google Shape;72;p4"/>
          <p:cNvSpPr/>
          <p:nvPr/>
        </p:nvSpPr>
        <p:spPr>
          <a:xfrm>
            <a:off x="6400800" y="4267200"/>
            <a:ext cx="5410200" cy="10668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This system will help food companies reduce the time and cost associated with product recalls while improving consumer safety and trust. It addresses critical challenges in modern food supply chain management.</a:t>
            </a:r>
            <a:endParaRPr sz="1350" b="0" i="0" u="none" strike="noStrike" cap="none">
              <a:solidFill>
                <a:schemeClr val="dk1"/>
              </a:solidFill>
              <a:latin typeface="Calibri"/>
              <a:ea typeface="Calibri"/>
              <a:cs typeface="Calibri"/>
              <a:sym typeface="Calibri"/>
            </a:endParaRPr>
          </a:p>
        </p:txBody>
      </p:sp>
      <p:sp>
        <p:nvSpPr>
          <p:cNvPr id="73" name="Google Shape;73;p4"/>
          <p:cNvSpPr/>
          <p:nvPr/>
        </p:nvSpPr>
        <p:spPr>
          <a:xfrm>
            <a:off x="381000" y="5867400"/>
            <a:ext cx="1829157"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Team Members:</a:t>
            </a:r>
            <a:endParaRPr sz="1350" b="0" i="0" u="none" strike="noStrike" cap="none">
              <a:solidFill>
                <a:schemeClr val="dk1"/>
              </a:solidFill>
              <a:latin typeface="Calibri"/>
              <a:ea typeface="Calibri"/>
              <a:cs typeface="Calibri"/>
              <a:sym typeface="Calibri"/>
            </a:endParaRPr>
          </a:p>
        </p:txBody>
      </p:sp>
      <p:sp>
        <p:nvSpPr>
          <p:cNvPr id="74" name="Google Shape;74;p4"/>
          <p:cNvSpPr/>
          <p:nvPr/>
        </p:nvSpPr>
        <p:spPr>
          <a:xfrm>
            <a:off x="2057698" y="5867400"/>
            <a:ext cx="321933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4B5563"/>
              </a:buClr>
              <a:buSzPts val="1350"/>
              <a:buFont typeface="Arial"/>
              <a:buNone/>
            </a:pPr>
            <a:r>
              <a:rPr lang="en-US" sz="1350" b="0" i="0" u="none" strike="noStrike" cap="none">
                <a:solidFill>
                  <a:srgbClr val="4B5563"/>
                </a:solidFill>
                <a:latin typeface="Arial"/>
                <a:ea typeface="Arial"/>
                <a:cs typeface="Arial"/>
                <a:sym typeface="Arial"/>
              </a:rPr>
              <a:t>Prerana, Harini, Riyanshi, Hardi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5"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1" name="Google Shape;81;p5"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82" name="Google Shape;82;p5" descr="preencoded.png"/>
          <p:cNvPicPr preferRelativeResize="0"/>
          <p:nvPr/>
        </p:nvPicPr>
        <p:blipFill rotWithShape="1">
          <a:blip r:embed="rId5">
            <a:alphaModFix/>
          </a:blip>
          <a:srcRect/>
          <a:stretch/>
        </p:blipFill>
        <p:spPr>
          <a:xfrm>
            <a:off x="381000" y="1181100"/>
            <a:ext cx="228600" cy="228600"/>
          </a:xfrm>
          <a:prstGeom prst="rect">
            <a:avLst/>
          </a:prstGeom>
          <a:noFill/>
          <a:ln>
            <a:noFill/>
          </a:ln>
        </p:spPr>
      </p:pic>
      <p:pic>
        <p:nvPicPr>
          <p:cNvPr id="83" name="Google Shape;83;p5" descr="preencoded.png"/>
          <p:cNvPicPr preferRelativeResize="0"/>
          <p:nvPr/>
        </p:nvPicPr>
        <p:blipFill rotWithShape="1">
          <a:blip r:embed="rId6">
            <a:alphaModFix/>
          </a:blip>
          <a:srcRect/>
          <a:stretch/>
        </p:blipFill>
        <p:spPr>
          <a:xfrm>
            <a:off x="381000" y="1676400"/>
            <a:ext cx="5410200" cy="1333500"/>
          </a:xfrm>
          <a:prstGeom prst="rect">
            <a:avLst/>
          </a:prstGeom>
          <a:noFill/>
          <a:ln>
            <a:noFill/>
          </a:ln>
        </p:spPr>
      </p:pic>
      <p:pic>
        <p:nvPicPr>
          <p:cNvPr id="84" name="Google Shape;84;p5" descr="preencoded.png"/>
          <p:cNvPicPr preferRelativeResize="0"/>
          <p:nvPr/>
        </p:nvPicPr>
        <p:blipFill rotWithShape="1">
          <a:blip r:embed="rId7">
            <a:alphaModFix/>
          </a:blip>
          <a:srcRect/>
          <a:stretch/>
        </p:blipFill>
        <p:spPr>
          <a:xfrm>
            <a:off x="533400" y="1876425"/>
            <a:ext cx="171450" cy="171450"/>
          </a:xfrm>
          <a:prstGeom prst="rect">
            <a:avLst/>
          </a:prstGeom>
          <a:noFill/>
          <a:ln>
            <a:noFill/>
          </a:ln>
        </p:spPr>
      </p:pic>
      <p:pic>
        <p:nvPicPr>
          <p:cNvPr id="85" name="Google Shape;85;p5" descr="preencoded.png"/>
          <p:cNvPicPr preferRelativeResize="0"/>
          <p:nvPr/>
        </p:nvPicPr>
        <p:blipFill rotWithShape="1">
          <a:blip r:embed="rId8">
            <a:alphaModFix/>
          </a:blip>
          <a:srcRect/>
          <a:stretch/>
        </p:blipFill>
        <p:spPr>
          <a:xfrm>
            <a:off x="381000" y="3162300"/>
            <a:ext cx="5410200" cy="1104900"/>
          </a:xfrm>
          <a:prstGeom prst="rect">
            <a:avLst/>
          </a:prstGeom>
          <a:noFill/>
          <a:ln>
            <a:noFill/>
          </a:ln>
        </p:spPr>
      </p:pic>
      <p:pic>
        <p:nvPicPr>
          <p:cNvPr id="86" name="Google Shape;86;p5" descr="preencoded.png"/>
          <p:cNvPicPr preferRelativeResize="0"/>
          <p:nvPr/>
        </p:nvPicPr>
        <p:blipFill rotWithShape="1">
          <a:blip r:embed="rId9">
            <a:alphaModFix/>
          </a:blip>
          <a:srcRect/>
          <a:stretch/>
        </p:blipFill>
        <p:spPr>
          <a:xfrm>
            <a:off x="533400" y="3362325"/>
            <a:ext cx="133350" cy="171450"/>
          </a:xfrm>
          <a:prstGeom prst="rect">
            <a:avLst/>
          </a:prstGeom>
          <a:noFill/>
          <a:ln>
            <a:noFill/>
          </a:ln>
        </p:spPr>
      </p:pic>
      <p:pic>
        <p:nvPicPr>
          <p:cNvPr id="87" name="Google Shape;87;p5" descr="preencoded.png"/>
          <p:cNvPicPr preferRelativeResize="0"/>
          <p:nvPr/>
        </p:nvPicPr>
        <p:blipFill rotWithShape="1">
          <a:blip r:embed="rId10">
            <a:alphaModFix/>
          </a:blip>
          <a:srcRect/>
          <a:stretch/>
        </p:blipFill>
        <p:spPr>
          <a:xfrm>
            <a:off x="381000" y="4419600"/>
            <a:ext cx="5410200" cy="1104900"/>
          </a:xfrm>
          <a:prstGeom prst="rect">
            <a:avLst/>
          </a:prstGeom>
          <a:noFill/>
          <a:ln>
            <a:noFill/>
          </a:ln>
        </p:spPr>
      </p:pic>
      <p:pic>
        <p:nvPicPr>
          <p:cNvPr id="88" name="Google Shape;88;p5" descr="preencoded.png"/>
          <p:cNvPicPr preferRelativeResize="0"/>
          <p:nvPr/>
        </p:nvPicPr>
        <p:blipFill rotWithShape="1">
          <a:blip r:embed="rId11">
            <a:alphaModFix/>
          </a:blip>
          <a:srcRect/>
          <a:stretch/>
        </p:blipFill>
        <p:spPr>
          <a:xfrm>
            <a:off x="533400" y="4619625"/>
            <a:ext cx="152400" cy="171450"/>
          </a:xfrm>
          <a:prstGeom prst="rect">
            <a:avLst/>
          </a:prstGeom>
          <a:noFill/>
          <a:ln>
            <a:noFill/>
          </a:ln>
        </p:spPr>
      </p:pic>
      <p:pic>
        <p:nvPicPr>
          <p:cNvPr id="89" name="Google Shape;89;p5" descr="preencoded.png"/>
          <p:cNvPicPr preferRelativeResize="0"/>
          <p:nvPr/>
        </p:nvPicPr>
        <p:blipFill rotWithShape="1">
          <a:blip r:embed="rId12">
            <a:alphaModFix/>
          </a:blip>
          <a:srcRect/>
          <a:stretch/>
        </p:blipFill>
        <p:spPr>
          <a:xfrm>
            <a:off x="6248400" y="1143000"/>
            <a:ext cx="5562600" cy="4381500"/>
          </a:xfrm>
          <a:prstGeom prst="rect">
            <a:avLst/>
          </a:prstGeom>
          <a:noFill/>
          <a:ln>
            <a:noFill/>
          </a:ln>
        </p:spPr>
      </p:pic>
      <p:pic>
        <p:nvPicPr>
          <p:cNvPr id="90" name="Google Shape;90;p5" descr="preencoded.png"/>
          <p:cNvPicPr preferRelativeResize="0"/>
          <p:nvPr/>
        </p:nvPicPr>
        <p:blipFill rotWithShape="1">
          <a:blip r:embed="rId13">
            <a:alphaModFix/>
          </a:blip>
          <a:srcRect/>
          <a:stretch/>
        </p:blipFill>
        <p:spPr>
          <a:xfrm>
            <a:off x="6400800" y="1181100"/>
            <a:ext cx="171450" cy="228600"/>
          </a:xfrm>
          <a:prstGeom prst="rect">
            <a:avLst/>
          </a:prstGeom>
          <a:noFill/>
          <a:ln>
            <a:noFill/>
          </a:ln>
        </p:spPr>
      </p:pic>
      <p:pic>
        <p:nvPicPr>
          <p:cNvPr id="91" name="Google Shape;91;p5" descr="preencoded.png"/>
          <p:cNvPicPr preferRelativeResize="0"/>
          <p:nvPr/>
        </p:nvPicPr>
        <p:blipFill rotWithShape="1">
          <a:blip r:embed="rId14">
            <a:alphaModFix/>
          </a:blip>
          <a:srcRect/>
          <a:stretch/>
        </p:blipFill>
        <p:spPr>
          <a:xfrm>
            <a:off x="6400800" y="4191000"/>
            <a:ext cx="2647950" cy="685800"/>
          </a:xfrm>
          <a:prstGeom prst="rect">
            <a:avLst/>
          </a:prstGeom>
          <a:noFill/>
          <a:ln>
            <a:noFill/>
          </a:ln>
        </p:spPr>
      </p:pic>
      <p:pic>
        <p:nvPicPr>
          <p:cNvPr id="92" name="Google Shape;92;p5" descr="preencoded.png"/>
          <p:cNvPicPr preferRelativeResize="0"/>
          <p:nvPr/>
        </p:nvPicPr>
        <p:blipFill rotWithShape="1">
          <a:blip r:embed="rId15">
            <a:alphaModFix/>
          </a:blip>
          <a:srcRect/>
          <a:stretch/>
        </p:blipFill>
        <p:spPr>
          <a:xfrm>
            <a:off x="6515100" y="4343400"/>
            <a:ext cx="171450" cy="152400"/>
          </a:xfrm>
          <a:prstGeom prst="rect">
            <a:avLst/>
          </a:prstGeom>
          <a:noFill/>
          <a:ln>
            <a:noFill/>
          </a:ln>
        </p:spPr>
      </p:pic>
      <p:pic>
        <p:nvPicPr>
          <p:cNvPr id="93" name="Google Shape;93;p5" descr="preencoded.png"/>
          <p:cNvPicPr preferRelativeResize="0"/>
          <p:nvPr/>
        </p:nvPicPr>
        <p:blipFill rotWithShape="1">
          <a:blip r:embed="rId14">
            <a:alphaModFix/>
          </a:blip>
          <a:srcRect/>
          <a:stretch/>
        </p:blipFill>
        <p:spPr>
          <a:xfrm>
            <a:off x="9163050" y="4191000"/>
            <a:ext cx="2647950" cy="685800"/>
          </a:xfrm>
          <a:prstGeom prst="rect">
            <a:avLst/>
          </a:prstGeom>
          <a:noFill/>
          <a:ln>
            <a:noFill/>
          </a:ln>
        </p:spPr>
      </p:pic>
      <p:pic>
        <p:nvPicPr>
          <p:cNvPr id="94" name="Google Shape;94;p5" descr="preencoded.png"/>
          <p:cNvPicPr preferRelativeResize="0"/>
          <p:nvPr/>
        </p:nvPicPr>
        <p:blipFill rotWithShape="1">
          <a:blip r:embed="rId16">
            <a:alphaModFix/>
          </a:blip>
          <a:srcRect/>
          <a:stretch/>
        </p:blipFill>
        <p:spPr>
          <a:xfrm>
            <a:off x="9277350" y="4343400"/>
            <a:ext cx="171450" cy="152400"/>
          </a:xfrm>
          <a:prstGeom prst="rect">
            <a:avLst/>
          </a:prstGeom>
          <a:noFill/>
          <a:ln>
            <a:noFill/>
          </a:ln>
        </p:spPr>
      </p:pic>
      <p:pic>
        <p:nvPicPr>
          <p:cNvPr id="95" name="Google Shape;95;p5" descr="preencoded.png"/>
          <p:cNvPicPr preferRelativeResize="0"/>
          <p:nvPr/>
        </p:nvPicPr>
        <p:blipFill rotWithShape="1">
          <a:blip r:embed="rId17">
            <a:alphaModFix/>
          </a:blip>
          <a:srcRect/>
          <a:stretch/>
        </p:blipFill>
        <p:spPr>
          <a:xfrm>
            <a:off x="6400800" y="4991100"/>
            <a:ext cx="2647950" cy="457200"/>
          </a:xfrm>
          <a:prstGeom prst="rect">
            <a:avLst/>
          </a:prstGeom>
          <a:noFill/>
          <a:ln>
            <a:noFill/>
          </a:ln>
        </p:spPr>
      </p:pic>
      <p:pic>
        <p:nvPicPr>
          <p:cNvPr id="96" name="Google Shape;96;p5" descr="preencoded.png"/>
          <p:cNvPicPr preferRelativeResize="0"/>
          <p:nvPr/>
        </p:nvPicPr>
        <p:blipFill rotWithShape="1">
          <a:blip r:embed="rId18">
            <a:alphaModFix/>
          </a:blip>
          <a:srcRect/>
          <a:stretch/>
        </p:blipFill>
        <p:spPr>
          <a:xfrm>
            <a:off x="6515100" y="5143500"/>
            <a:ext cx="171450" cy="152400"/>
          </a:xfrm>
          <a:prstGeom prst="rect">
            <a:avLst/>
          </a:prstGeom>
          <a:noFill/>
          <a:ln>
            <a:noFill/>
          </a:ln>
        </p:spPr>
      </p:pic>
      <p:pic>
        <p:nvPicPr>
          <p:cNvPr id="97" name="Google Shape;97;p5" descr="preencoded.png"/>
          <p:cNvPicPr preferRelativeResize="0"/>
          <p:nvPr/>
        </p:nvPicPr>
        <p:blipFill rotWithShape="1">
          <a:blip r:embed="rId17">
            <a:alphaModFix/>
          </a:blip>
          <a:srcRect/>
          <a:stretch/>
        </p:blipFill>
        <p:spPr>
          <a:xfrm>
            <a:off x="9163050" y="4991100"/>
            <a:ext cx="2647950" cy="457200"/>
          </a:xfrm>
          <a:prstGeom prst="rect">
            <a:avLst/>
          </a:prstGeom>
          <a:noFill/>
          <a:ln>
            <a:noFill/>
          </a:ln>
        </p:spPr>
      </p:pic>
      <p:pic>
        <p:nvPicPr>
          <p:cNvPr id="98" name="Google Shape;98;p5" descr="preencoded.png"/>
          <p:cNvPicPr preferRelativeResize="0"/>
          <p:nvPr/>
        </p:nvPicPr>
        <p:blipFill rotWithShape="1">
          <a:blip r:embed="rId19">
            <a:alphaModFix/>
          </a:blip>
          <a:srcRect/>
          <a:stretch/>
        </p:blipFill>
        <p:spPr>
          <a:xfrm>
            <a:off x="9277350" y="5143500"/>
            <a:ext cx="152400" cy="152400"/>
          </a:xfrm>
          <a:prstGeom prst="rect">
            <a:avLst/>
          </a:prstGeom>
          <a:noFill/>
          <a:ln>
            <a:noFill/>
          </a:ln>
        </p:spPr>
      </p:pic>
      <p:pic>
        <p:nvPicPr>
          <p:cNvPr id="99" name="Google Shape;99;p5" descr="preencoded.png"/>
          <p:cNvPicPr preferRelativeResize="0"/>
          <p:nvPr/>
        </p:nvPicPr>
        <p:blipFill rotWithShape="1">
          <a:blip r:embed="rId20">
            <a:alphaModFix/>
          </a:blip>
          <a:srcRect/>
          <a:stretch/>
        </p:blipFill>
        <p:spPr>
          <a:xfrm>
            <a:off x="0" y="5905500"/>
            <a:ext cx="12192000" cy="571500"/>
          </a:xfrm>
          <a:prstGeom prst="rect">
            <a:avLst/>
          </a:prstGeom>
          <a:noFill/>
          <a:ln>
            <a:noFill/>
          </a:ln>
        </p:spPr>
      </p:pic>
      <p:sp>
        <p:nvSpPr>
          <p:cNvPr id="100" name="Google Shape;100;p5"/>
          <p:cNvSpPr/>
          <p:nvPr/>
        </p:nvSpPr>
        <p:spPr>
          <a:xfrm>
            <a:off x="381000" y="209550"/>
            <a:ext cx="6377047"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Problem Statement &amp; Motivation</a:t>
            </a:r>
            <a:endParaRPr sz="2250" b="0" i="0" u="none" strike="noStrike" cap="none">
              <a:solidFill>
                <a:schemeClr val="dk1"/>
              </a:solidFill>
              <a:latin typeface="Calibri"/>
              <a:ea typeface="Calibri"/>
              <a:cs typeface="Calibri"/>
              <a:sym typeface="Calibri"/>
            </a:endParaRPr>
          </a:p>
        </p:txBody>
      </p:sp>
      <p:sp>
        <p:nvSpPr>
          <p:cNvPr id="101" name="Google Shape;101;p5"/>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102" name="Google Shape;102;p5"/>
          <p:cNvSpPr/>
          <p:nvPr/>
        </p:nvSpPr>
        <p:spPr>
          <a:xfrm>
            <a:off x="723900" y="11430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Current Challenges</a:t>
            </a:r>
            <a:endParaRPr sz="1800" b="0" i="0" u="none" strike="noStrike" cap="none">
              <a:solidFill>
                <a:schemeClr val="dk1"/>
              </a:solidFill>
              <a:latin typeface="Calibri"/>
              <a:ea typeface="Calibri"/>
              <a:cs typeface="Calibri"/>
              <a:sym typeface="Calibri"/>
            </a:endParaRPr>
          </a:p>
        </p:txBody>
      </p:sp>
      <p:sp>
        <p:nvSpPr>
          <p:cNvPr id="103" name="Google Shape;103;p5"/>
          <p:cNvSpPr/>
          <p:nvPr/>
        </p:nvSpPr>
        <p:spPr>
          <a:xfrm>
            <a:off x="781050" y="1828800"/>
            <a:ext cx="51054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1" i="0" u="none" strike="noStrike" cap="none">
                <a:solidFill>
                  <a:srgbClr val="000000"/>
                </a:solidFill>
                <a:latin typeface="Arial"/>
                <a:ea typeface="Arial"/>
                <a:cs typeface="Arial"/>
                <a:sym typeface="Arial"/>
              </a:rPr>
              <a:t>Complex Supply Chains</a:t>
            </a:r>
            <a:endParaRPr sz="1350" b="0" i="0" u="none" strike="noStrike" cap="none">
              <a:solidFill>
                <a:schemeClr val="dk1"/>
              </a:solidFill>
              <a:latin typeface="Calibri"/>
              <a:ea typeface="Calibri"/>
              <a:cs typeface="Calibri"/>
              <a:sym typeface="Calibri"/>
            </a:endParaRPr>
          </a:p>
        </p:txBody>
      </p:sp>
      <p:sp>
        <p:nvSpPr>
          <p:cNvPr id="104" name="Google Shape;104;p5"/>
          <p:cNvSpPr/>
          <p:nvPr/>
        </p:nvSpPr>
        <p:spPr>
          <a:xfrm>
            <a:off x="533400" y="2171700"/>
            <a:ext cx="5105400" cy="685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Multi-layered food supply chains make tracking products from farm to table difficult, with numerous touchpoints and stakeholders.</a:t>
            </a:r>
            <a:endParaRPr sz="1200" b="0" i="0" u="none" strike="noStrike" cap="none">
              <a:solidFill>
                <a:schemeClr val="dk1"/>
              </a:solidFill>
              <a:latin typeface="Calibri"/>
              <a:ea typeface="Calibri"/>
              <a:cs typeface="Calibri"/>
              <a:sym typeface="Calibri"/>
            </a:endParaRPr>
          </a:p>
        </p:txBody>
      </p:sp>
      <p:sp>
        <p:nvSpPr>
          <p:cNvPr id="105" name="Google Shape;105;p5"/>
          <p:cNvSpPr/>
          <p:nvPr/>
        </p:nvSpPr>
        <p:spPr>
          <a:xfrm>
            <a:off x="742950" y="3314700"/>
            <a:ext cx="51054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1" i="0" u="none" strike="noStrike" cap="none">
                <a:solidFill>
                  <a:srgbClr val="000000"/>
                </a:solidFill>
                <a:latin typeface="Arial"/>
                <a:ea typeface="Arial"/>
                <a:cs typeface="Arial"/>
                <a:sym typeface="Arial"/>
              </a:rPr>
              <a:t>Slow Recall Processes</a:t>
            </a:r>
            <a:endParaRPr sz="1350" b="0" i="0" u="none" strike="noStrike" cap="none">
              <a:solidFill>
                <a:schemeClr val="dk1"/>
              </a:solidFill>
              <a:latin typeface="Calibri"/>
              <a:ea typeface="Calibri"/>
              <a:cs typeface="Calibri"/>
              <a:sym typeface="Calibri"/>
            </a:endParaRPr>
          </a:p>
        </p:txBody>
      </p:sp>
      <p:sp>
        <p:nvSpPr>
          <p:cNvPr id="106" name="Google Shape;106;p5"/>
          <p:cNvSpPr/>
          <p:nvPr/>
        </p:nvSpPr>
        <p:spPr>
          <a:xfrm>
            <a:off x="533400" y="3657600"/>
            <a:ext cx="5105400" cy="457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Traditional recall methods are time-consuming and often result in broad withdrawals rather than targeted recalls.</a:t>
            </a:r>
            <a:endParaRPr sz="1200" b="0" i="0" u="none" strike="noStrike" cap="none">
              <a:solidFill>
                <a:schemeClr val="dk1"/>
              </a:solidFill>
              <a:latin typeface="Calibri"/>
              <a:ea typeface="Calibri"/>
              <a:cs typeface="Calibri"/>
              <a:sym typeface="Calibri"/>
            </a:endParaRPr>
          </a:p>
        </p:txBody>
      </p:sp>
      <p:sp>
        <p:nvSpPr>
          <p:cNvPr id="107" name="Google Shape;107;p5"/>
          <p:cNvSpPr/>
          <p:nvPr/>
        </p:nvSpPr>
        <p:spPr>
          <a:xfrm>
            <a:off x="762000" y="4572000"/>
            <a:ext cx="51054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1" i="0" u="none" strike="noStrike" cap="none">
                <a:solidFill>
                  <a:srgbClr val="000000"/>
                </a:solidFill>
                <a:latin typeface="Arial"/>
                <a:ea typeface="Arial"/>
                <a:cs typeface="Arial"/>
                <a:sym typeface="Arial"/>
              </a:rPr>
              <a:t>Data Fragmentation</a:t>
            </a:r>
            <a:endParaRPr sz="1350" b="0" i="0" u="none" strike="noStrike" cap="none">
              <a:solidFill>
                <a:schemeClr val="dk1"/>
              </a:solidFill>
              <a:latin typeface="Calibri"/>
              <a:ea typeface="Calibri"/>
              <a:cs typeface="Calibri"/>
              <a:sym typeface="Calibri"/>
            </a:endParaRPr>
          </a:p>
        </p:txBody>
      </p:sp>
      <p:sp>
        <p:nvSpPr>
          <p:cNvPr id="108" name="Google Shape;108;p5"/>
          <p:cNvSpPr/>
          <p:nvPr/>
        </p:nvSpPr>
        <p:spPr>
          <a:xfrm>
            <a:off x="533400" y="4914900"/>
            <a:ext cx="5105400" cy="457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Information silos across departments and systems prevent comprehensive view of supply chain operations.</a:t>
            </a:r>
            <a:endParaRPr sz="1200" b="0" i="0" u="none" strike="noStrike" cap="none">
              <a:solidFill>
                <a:schemeClr val="dk1"/>
              </a:solidFill>
              <a:latin typeface="Calibri"/>
              <a:ea typeface="Calibri"/>
              <a:cs typeface="Calibri"/>
              <a:sym typeface="Calibri"/>
            </a:endParaRPr>
          </a:p>
        </p:txBody>
      </p:sp>
      <p:sp>
        <p:nvSpPr>
          <p:cNvPr id="109" name="Google Shape;109;p5"/>
          <p:cNvSpPr/>
          <p:nvPr/>
        </p:nvSpPr>
        <p:spPr>
          <a:xfrm>
            <a:off x="6686550" y="1143000"/>
            <a:ext cx="649224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Motivation &amp; Benefits</a:t>
            </a:r>
            <a:endParaRPr sz="1800" b="0" i="0" u="none" strike="noStrike" cap="none">
              <a:solidFill>
                <a:schemeClr val="dk1"/>
              </a:solidFill>
              <a:latin typeface="Calibri"/>
              <a:ea typeface="Calibri"/>
              <a:cs typeface="Calibri"/>
              <a:sym typeface="Calibri"/>
            </a:endParaRPr>
          </a:p>
        </p:txBody>
      </p:sp>
      <p:sp>
        <p:nvSpPr>
          <p:cNvPr id="110" name="Google Shape;110;p5"/>
          <p:cNvSpPr/>
          <p:nvPr/>
        </p:nvSpPr>
        <p:spPr>
          <a:xfrm>
            <a:off x="6400800" y="1676400"/>
            <a:ext cx="649224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1" i="0" u="none" strike="noStrike" cap="none">
                <a:solidFill>
                  <a:srgbClr val="000000"/>
                </a:solidFill>
                <a:latin typeface="Arial"/>
                <a:ea typeface="Arial"/>
                <a:cs typeface="Arial"/>
                <a:sym typeface="Arial"/>
              </a:rPr>
              <a:t>Key Pain Points Driving This Project:</a:t>
            </a:r>
            <a:endParaRPr sz="1350" b="0" i="0" u="none" strike="noStrike" cap="none">
              <a:solidFill>
                <a:schemeClr val="dk1"/>
              </a:solidFill>
              <a:latin typeface="Calibri"/>
              <a:ea typeface="Calibri"/>
              <a:cs typeface="Calibri"/>
              <a:sym typeface="Calibri"/>
            </a:endParaRPr>
          </a:p>
        </p:txBody>
      </p:sp>
      <p:sp>
        <p:nvSpPr>
          <p:cNvPr id="111" name="Google Shape;111;p5"/>
          <p:cNvSpPr/>
          <p:nvPr/>
        </p:nvSpPr>
        <p:spPr>
          <a:xfrm>
            <a:off x="6438900" y="2057400"/>
            <a:ext cx="644652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Consumer safety concerns due to delayed recall responses</a:t>
            </a:r>
            <a:endParaRPr sz="1200" b="0" i="0" u="none" strike="noStrike" cap="none">
              <a:solidFill>
                <a:schemeClr val="dk1"/>
              </a:solidFill>
              <a:latin typeface="Calibri"/>
              <a:ea typeface="Calibri"/>
              <a:cs typeface="Calibri"/>
              <a:sym typeface="Calibri"/>
            </a:endParaRPr>
          </a:p>
        </p:txBody>
      </p:sp>
      <p:sp>
        <p:nvSpPr>
          <p:cNvPr id="112" name="Google Shape;112;p5"/>
          <p:cNvSpPr/>
          <p:nvPr/>
        </p:nvSpPr>
        <p:spPr>
          <a:xfrm>
            <a:off x="6438900" y="2362200"/>
            <a:ext cx="644652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Financial losses from broad product withdrawals</a:t>
            </a:r>
            <a:endParaRPr sz="1200" b="0" i="0" u="none" strike="noStrike" cap="none">
              <a:solidFill>
                <a:schemeClr val="dk1"/>
              </a:solidFill>
              <a:latin typeface="Calibri"/>
              <a:ea typeface="Calibri"/>
              <a:cs typeface="Calibri"/>
              <a:sym typeface="Calibri"/>
            </a:endParaRPr>
          </a:p>
        </p:txBody>
      </p:sp>
      <p:sp>
        <p:nvSpPr>
          <p:cNvPr id="113" name="Google Shape;113;p5"/>
          <p:cNvSpPr/>
          <p:nvPr/>
        </p:nvSpPr>
        <p:spPr>
          <a:xfrm>
            <a:off x="6438900" y="2667000"/>
            <a:ext cx="644652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Difficulty in identifying contaminated products</a:t>
            </a:r>
            <a:endParaRPr sz="1200" b="0" i="0" u="none" strike="noStrike" cap="none">
              <a:solidFill>
                <a:schemeClr val="dk1"/>
              </a:solidFill>
              <a:latin typeface="Calibri"/>
              <a:ea typeface="Calibri"/>
              <a:cs typeface="Calibri"/>
              <a:sym typeface="Calibri"/>
            </a:endParaRPr>
          </a:p>
        </p:txBody>
      </p:sp>
      <p:sp>
        <p:nvSpPr>
          <p:cNvPr id="114" name="Google Shape;114;p5"/>
          <p:cNvSpPr/>
          <p:nvPr/>
        </p:nvSpPr>
        <p:spPr>
          <a:xfrm>
            <a:off x="6438900" y="2971800"/>
            <a:ext cx="644652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Manual tracking methods prone to human error</a:t>
            </a:r>
            <a:endParaRPr sz="1200" b="0" i="0" u="none" strike="noStrike" cap="none">
              <a:solidFill>
                <a:schemeClr val="dk1"/>
              </a:solidFill>
              <a:latin typeface="Calibri"/>
              <a:ea typeface="Calibri"/>
              <a:cs typeface="Calibri"/>
              <a:sym typeface="Calibri"/>
            </a:endParaRPr>
          </a:p>
        </p:txBody>
      </p:sp>
      <p:sp>
        <p:nvSpPr>
          <p:cNvPr id="115" name="Google Shape;115;p5"/>
          <p:cNvSpPr/>
          <p:nvPr/>
        </p:nvSpPr>
        <p:spPr>
          <a:xfrm>
            <a:off x="6438900" y="3276600"/>
            <a:ext cx="644652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Regulatory compliance challenges</a:t>
            </a:r>
            <a:endParaRPr sz="1200" b="0" i="0" u="none" strike="noStrike" cap="none">
              <a:solidFill>
                <a:schemeClr val="dk1"/>
              </a:solidFill>
              <a:latin typeface="Calibri"/>
              <a:ea typeface="Calibri"/>
              <a:cs typeface="Calibri"/>
              <a:sym typeface="Calibri"/>
            </a:endParaRPr>
          </a:p>
        </p:txBody>
      </p:sp>
      <p:sp>
        <p:nvSpPr>
          <p:cNvPr id="116" name="Google Shape;116;p5"/>
          <p:cNvSpPr/>
          <p:nvPr/>
        </p:nvSpPr>
        <p:spPr>
          <a:xfrm>
            <a:off x="6400800" y="3810000"/>
            <a:ext cx="54102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1" i="0" u="none" strike="noStrike" cap="none">
                <a:solidFill>
                  <a:srgbClr val="000000"/>
                </a:solidFill>
                <a:latin typeface="Arial"/>
                <a:ea typeface="Arial"/>
                <a:cs typeface="Arial"/>
                <a:sym typeface="Arial"/>
              </a:rPr>
              <a:t>Expected Benefits:</a:t>
            </a:r>
            <a:endParaRPr sz="1350" b="0" i="0" u="none" strike="noStrike" cap="none">
              <a:solidFill>
                <a:schemeClr val="dk1"/>
              </a:solidFill>
              <a:latin typeface="Calibri"/>
              <a:ea typeface="Calibri"/>
              <a:cs typeface="Calibri"/>
              <a:sym typeface="Calibri"/>
            </a:endParaRPr>
          </a:p>
        </p:txBody>
      </p:sp>
      <p:sp>
        <p:nvSpPr>
          <p:cNvPr id="117" name="Google Shape;117;p5"/>
          <p:cNvSpPr/>
          <p:nvPr/>
        </p:nvSpPr>
        <p:spPr>
          <a:xfrm>
            <a:off x="6762750" y="4305300"/>
            <a:ext cx="2171700" cy="457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Accelerated recall processes</a:t>
            </a:r>
            <a:endParaRPr sz="1200" b="0" i="0" u="none" strike="noStrike" cap="none">
              <a:solidFill>
                <a:schemeClr val="dk1"/>
              </a:solidFill>
              <a:latin typeface="Calibri"/>
              <a:ea typeface="Calibri"/>
              <a:cs typeface="Calibri"/>
              <a:sym typeface="Calibri"/>
            </a:endParaRPr>
          </a:p>
        </p:txBody>
      </p:sp>
      <p:sp>
        <p:nvSpPr>
          <p:cNvPr id="118" name="Google Shape;118;p5"/>
          <p:cNvSpPr/>
          <p:nvPr/>
        </p:nvSpPr>
        <p:spPr>
          <a:xfrm>
            <a:off x="9525000" y="4305300"/>
            <a:ext cx="1995249"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Enhanced traceability</a:t>
            </a:r>
            <a:endParaRPr sz="1200" b="0" i="0" u="none" strike="noStrike" cap="none">
              <a:solidFill>
                <a:schemeClr val="dk1"/>
              </a:solidFill>
              <a:latin typeface="Calibri"/>
              <a:ea typeface="Calibri"/>
              <a:cs typeface="Calibri"/>
              <a:sym typeface="Calibri"/>
            </a:endParaRPr>
          </a:p>
        </p:txBody>
      </p:sp>
      <p:sp>
        <p:nvSpPr>
          <p:cNvPr id="119" name="Google Shape;119;p5"/>
          <p:cNvSpPr/>
          <p:nvPr/>
        </p:nvSpPr>
        <p:spPr>
          <a:xfrm>
            <a:off x="6762750" y="5105400"/>
            <a:ext cx="1851303"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Data-driven insights</a:t>
            </a:r>
            <a:endParaRPr sz="1200" b="0" i="0" u="none" strike="noStrike" cap="none">
              <a:solidFill>
                <a:schemeClr val="dk1"/>
              </a:solidFill>
              <a:latin typeface="Calibri"/>
              <a:ea typeface="Calibri"/>
              <a:cs typeface="Calibri"/>
              <a:sym typeface="Calibri"/>
            </a:endParaRPr>
          </a:p>
        </p:txBody>
      </p:sp>
      <p:sp>
        <p:nvSpPr>
          <p:cNvPr id="120" name="Google Shape;120;p5"/>
          <p:cNvSpPr/>
          <p:nvPr/>
        </p:nvSpPr>
        <p:spPr>
          <a:xfrm>
            <a:off x="9505950" y="5105400"/>
            <a:ext cx="1952744"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Improved food safety</a:t>
            </a:r>
            <a:endParaRPr sz="1200" b="0" i="0" u="none" strike="noStrike" cap="none">
              <a:solidFill>
                <a:schemeClr val="dk1"/>
              </a:solidFill>
              <a:latin typeface="Calibri"/>
              <a:ea typeface="Calibri"/>
              <a:cs typeface="Calibri"/>
              <a:sym typeface="Calibri"/>
            </a:endParaRPr>
          </a:p>
        </p:txBody>
      </p:sp>
      <p:sp>
        <p:nvSpPr>
          <p:cNvPr id="121" name="Google Shape;121;p5"/>
          <p:cNvSpPr/>
          <p:nvPr/>
        </p:nvSpPr>
        <p:spPr>
          <a:xfrm>
            <a:off x="381000" y="6057900"/>
            <a:ext cx="1829157"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Team Members:</a:t>
            </a:r>
            <a:endParaRPr sz="1350" b="0" i="0" u="none" strike="noStrike" cap="none">
              <a:solidFill>
                <a:schemeClr val="dk1"/>
              </a:solidFill>
              <a:latin typeface="Calibri"/>
              <a:ea typeface="Calibri"/>
              <a:cs typeface="Calibri"/>
              <a:sym typeface="Calibri"/>
            </a:endParaRPr>
          </a:p>
        </p:txBody>
      </p:sp>
      <p:sp>
        <p:nvSpPr>
          <p:cNvPr id="122" name="Google Shape;122;p5"/>
          <p:cNvSpPr/>
          <p:nvPr/>
        </p:nvSpPr>
        <p:spPr>
          <a:xfrm>
            <a:off x="2057698" y="6057900"/>
            <a:ext cx="321933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4B5563"/>
              </a:buClr>
              <a:buSzPts val="1350"/>
              <a:buFont typeface="Arial"/>
              <a:buNone/>
            </a:pPr>
            <a:r>
              <a:rPr lang="en-US" sz="1350" b="0" i="0" u="none" strike="noStrike" cap="none">
                <a:solidFill>
                  <a:srgbClr val="4B5563"/>
                </a:solidFill>
                <a:latin typeface="Arial"/>
                <a:ea typeface="Arial"/>
                <a:cs typeface="Arial"/>
                <a:sym typeface="Arial"/>
              </a:rPr>
              <a:t>Prerana, Harini, Riyanshi, Hardi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6"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9" name="Google Shape;129;p6" descr="preencoded.png"/>
          <p:cNvPicPr preferRelativeResize="0"/>
          <p:nvPr/>
        </p:nvPicPr>
        <p:blipFill rotWithShape="1">
          <a:blip r:embed="rId4">
            <a:alphaModFix/>
          </a:blip>
          <a:srcRect/>
          <a:stretch/>
        </p:blipFill>
        <p:spPr>
          <a:xfrm>
            <a:off x="0" y="0"/>
            <a:ext cx="12192002" cy="762000"/>
          </a:xfrm>
          <a:prstGeom prst="rect">
            <a:avLst/>
          </a:prstGeom>
          <a:noFill/>
          <a:ln>
            <a:noFill/>
          </a:ln>
        </p:spPr>
      </p:pic>
      <p:pic>
        <p:nvPicPr>
          <p:cNvPr id="130" name="Google Shape;130;p6" descr="preencoded.png"/>
          <p:cNvPicPr preferRelativeResize="0"/>
          <p:nvPr/>
        </p:nvPicPr>
        <p:blipFill rotWithShape="1">
          <a:blip r:embed="rId5">
            <a:alphaModFix/>
          </a:blip>
          <a:srcRect/>
          <a:stretch/>
        </p:blipFill>
        <p:spPr>
          <a:xfrm>
            <a:off x="0" y="1416150"/>
            <a:ext cx="5770549" cy="2347912"/>
          </a:xfrm>
          <a:prstGeom prst="rect">
            <a:avLst/>
          </a:prstGeom>
          <a:noFill/>
          <a:ln>
            <a:noFill/>
          </a:ln>
        </p:spPr>
      </p:pic>
      <p:sp>
        <p:nvSpPr>
          <p:cNvPr id="131" name="Google Shape;131;p6"/>
          <p:cNvSpPr/>
          <p:nvPr/>
        </p:nvSpPr>
        <p:spPr>
          <a:xfrm>
            <a:off x="381000" y="209550"/>
            <a:ext cx="63771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550" b="1">
                <a:solidFill>
                  <a:schemeClr val="lt1"/>
                </a:solidFill>
                <a:latin typeface="Courier New"/>
                <a:ea typeface="Courier New"/>
                <a:cs typeface="Courier New"/>
                <a:sym typeface="Courier New"/>
              </a:rPr>
              <a:t>Design Approach &amp; Architecture</a:t>
            </a:r>
            <a:endParaRPr sz="3750" b="1" i="0" u="none" strike="noStrike" cap="none">
              <a:solidFill>
                <a:schemeClr val="lt1"/>
              </a:solidFill>
              <a:latin typeface="Calibri"/>
              <a:ea typeface="Calibri"/>
              <a:cs typeface="Calibri"/>
              <a:sym typeface="Calibri"/>
            </a:endParaRPr>
          </a:p>
        </p:txBody>
      </p:sp>
      <p:sp>
        <p:nvSpPr>
          <p:cNvPr id="132" name="Google Shape;132;p6"/>
          <p:cNvSpPr/>
          <p:nvPr/>
        </p:nvSpPr>
        <p:spPr>
          <a:xfrm>
            <a:off x="7091065" y="247650"/>
            <a:ext cx="56640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133" name="Google Shape;133;p6"/>
          <p:cNvSpPr/>
          <p:nvPr/>
        </p:nvSpPr>
        <p:spPr>
          <a:xfrm>
            <a:off x="781050" y="1828800"/>
            <a:ext cx="51054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134" name="Google Shape;134;p6"/>
          <p:cNvSpPr txBox="1"/>
          <p:nvPr/>
        </p:nvSpPr>
        <p:spPr>
          <a:xfrm>
            <a:off x="53275" y="784950"/>
            <a:ext cx="4513200" cy="63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en-US" sz="2900" b="1">
                <a:solidFill>
                  <a:srgbClr val="1E40AF"/>
                </a:solidFill>
              </a:rPr>
              <a:t>Design Considerations</a:t>
            </a:r>
            <a:endParaRPr sz="3000"/>
          </a:p>
        </p:txBody>
      </p:sp>
      <p:sp>
        <p:nvSpPr>
          <p:cNvPr id="135" name="Google Shape;135;p6"/>
          <p:cNvSpPr txBox="1"/>
          <p:nvPr/>
        </p:nvSpPr>
        <p:spPr>
          <a:xfrm>
            <a:off x="6576750" y="762000"/>
            <a:ext cx="4513200" cy="67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en-US" sz="3200" b="1">
                <a:solidFill>
                  <a:srgbClr val="166534"/>
                </a:solidFill>
              </a:rPr>
              <a:t>Key Features</a:t>
            </a:r>
            <a:endParaRPr sz="4800" b="1">
              <a:solidFill>
                <a:srgbClr val="1E40AF"/>
              </a:solidFill>
            </a:endParaRPr>
          </a:p>
        </p:txBody>
      </p:sp>
      <p:pic>
        <p:nvPicPr>
          <p:cNvPr id="136" name="Google Shape;136;p6" descr="preencoded.png"/>
          <p:cNvPicPr preferRelativeResize="0"/>
          <p:nvPr/>
        </p:nvPicPr>
        <p:blipFill rotWithShape="1">
          <a:blip r:embed="rId5">
            <a:alphaModFix/>
          </a:blip>
          <a:srcRect/>
          <a:stretch/>
        </p:blipFill>
        <p:spPr>
          <a:xfrm>
            <a:off x="6292175" y="1416150"/>
            <a:ext cx="5510874" cy="2419800"/>
          </a:xfrm>
          <a:prstGeom prst="rect">
            <a:avLst/>
          </a:prstGeom>
          <a:noFill/>
          <a:ln>
            <a:noFill/>
          </a:ln>
        </p:spPr>
      </p:pic>
      <p:sp>
        <p:nvSpPr>
          <p:cNvPr id="137" name="Google Shape;137;p6"/>
          <p:cNvSpPr txBox="1"/>
          <p:nvPr/>
        </p:nvSpPr>
        <p:spPr>
          <a:xfrm>
            <a:off x="53275" y="1439100"/>
            <a:ext cx="5770500" cy="24198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0"/>
              </a:spcBef>
              <a:spcAft>
                <a:spcPts val="0"/>
              </a:spcAft>
              <a:buClr>
                <a:srgbClr val="374151"/>
              </a:buClr>
              <a:buSzPts val="1800"/>
              <a:buNone/>
            </a:pPr>
            <a:r>
              <a:rPr lang="en-US" sz="1800">
                <a:solidFill>
                  <a:srgbClr val="374151"/>
                </a:solidFill>
              </a:rPr>
              <a:t>• </a:t>
            </a:r>
            <a:r>
              <a:rPr lang="en-US" sz="1800" b="1">
                <a:solidFill>
                  <a:srgbClr val="374151"/>
                </a:solidFill>
              </a:rPr>
              <a:t>Normalization</a:t>
            </a:r>
            <a:r>
              <a:rPr lang="en-US" sz="1800">
                <a:solidFill>
                  <a:srgbClr val="374151"/>
                </a:solidFill>
              </a:rPr>
              <a:t>: 3NF for data integrity</a:t>
            </a:r>
            <a:endParaRPr sz="1800">
              <a:solidFill>
                <a:srgbClr val="374151"/>
              </a:solidFill>
            </a:endParaRPr>
          </a:p>
          <a:p>
            <a:pPr marL="457200" lvl="0" indent="-228600" algn="l" rtl="0">
              <a:lnSpc>
                <a:spcPct val="115000"/>
              </a:lnSpc>
              <a:spcBef>
                <a:spcPts val="0"/>
              </a:spcBef>
              <a:spcAft>
                <a:spcPts val="0"/>
              </a:spcAft>
              <a:buClr>
                <a:srgbClr val="374151"/>
              </a:buClr>
              <a:buSzPts val="1800"/>
              <a:buNone/>
            </a:pPr>
            <a:r>
              <a:rPr lang="en-US" sz="1800">
                <a:solidFill>
                  <a:srgbClr val="374151"/>
                </a:solidFill>
              </a:rPr>
              <a:t>• </a:t>
            </a:r>
            <a:r>
              <a:rPr lang="en-US" sz="1800" b="1">
                <a:solidFill>
                  <a:srgbClr val="374151"/>
                </a:solidFill>
              </a:rPr>
              <a:t>Scalability</a:t>
            </a:r>
            <a:r>
              <a:rPr lang="en-US" sz="1800">
                <a:solidFill>
                  <a:srgbClr val="374151"/>
                </a:solidFill>
              </a:rPr>
              <a:t>: Indexed for high-volume queries</a:t>
            </a:r>
            <a:endParaRPr sz="1800">
              <a:solidFill>
                <a:srgbClr val="374151"/>
              </a:solidFill>
            </a:endParaRPr>
          </a:p>
          <a:p>
            <a:pPr marL="457200" lvl="0" indent="-228600" algn="l" rtl="0">
              <a:lnSpc>
                <a:spcPct val="115000"/>
              </a:lnSpc>
              <a:spcBef>
                <a:spcPts val="0"/>
              </a:spcBef>
              <a:spcAft>
                <a:spcPts val="0"/>
              </a:spcAft>
              <a:buClr>
                <a:srgbClr val="374151"/>
              </a:buClr>
              <a:buSzPts val="1800"/>
              <a:buNone/>
            </a:pPr>
            <a:r>
              <a:rPr lang="en-US" sz="1800">
                <a:solidFill>
                  <a:srgbClr val="374151"/>
                </a:solidFill>
              </a:rPr>
              <a:t>• </a:t>
            </a:r>
            <a:r>
              <a:rPr lang="en-US" sz="1800" b="1">
                <a:solidFill>
                  <a:srgbClr val="374151"/>
                </a:solidFill>
              </a:rPr>
              <a:t>Traceability</a:t>
            </a:r>
            <a:r>
              <a:rPr lang="en-US" sz="1800">
                <a:solidFill>
                  <a:srgbClr val="374151"/>
                </a:solidFill>
              </a:rPr>
              <a:t>: Genealogy table for lot transformations</a:t>
            </a:r>
            <a:endParaRPr sz="1800">
              <a:solidFill>
                <a:srgbClr val="374151"/>
              </a:solidFill>
            </a:endParaRPr>
          </a:p>
          <a:p>
            <a:pPr marL="457200" lvl="0" indent="-228600" algn="l" rtl="0">
              <a:lnSpc>
                <a:spcPct val="115000"/>
              </a:lnSpc>
              <a:spcBef>
                <a:spcPts val="0"/>
              </a:spcBef>
              <a:spcAft>
                <a:spcPts val="0"/>
              </a:spcAft>
              <a:buClr>
                <a:srgbClr val="374151"/>
              </a:buClr>
              <a:buSzPts val="1800"/>
              <a:buNone/>
            </a:pPr>
            <a:r>
              <a:rPr lang="en-US" sz="1800">
                <a:solidFill>
                  <a:srgbClr val="374151"/>
                </a:solidFill>
              </a:rPr>
              <a:t>• </a:t>
            </a:r>
            <a:r>
              <a:rPr lang="en-US" sz="1800" b="1">
                <a:solidFill>
                  <a:srgbClr val="374151"/>
                </a:solidFill>
              </a:rPr>
              <a:t>Audit Trail</a:t>
            </a:r>
            <a:r>
              <a:rPr lang="en-US" sz="1800">
                <a:solidFill>
                  <a:srgbClr val="374151"/>
                </a:solidFill>
              </a:rPr>
              <a:t>: Comprehensive logging mechanism</a:t>
            </a:r>
            <a:endParaRPr sz="1800">
              <a:solidFill>
                <a:srgbClr val="374151"/>
              </a:solidFill>
            </a:endParaRPr>
          </a:p>
          <a:p>
            <a:pPr marL="457200" lvl="0" indent="-228600" algn="l" rtl="0">
              <a:lnSpc>
                <a:spcPct val="115000"/>
              </a:lnSpc>
              <a:spcBef>
                <a:spcPts val="0"/>
              </a:spcBef>
              <a:spcAft>
                <a:spcPts val="0"/>
              </a:spcAft>
              <a:buClr>
                <a:srgbClr val="374151"/>
              </a:buClr>
              <a:buSzPts val="1800"/>
              <a:buNone/>
            </a:pPr>
            <a:r>
              <a:rPr lang="en-US" sz="1800">
                <a:solidFill>
                  <a:srgbClr val="374151"/>
                </a:solidFill>
              </a:rPr>
              <a:t>• </a:t>
            </a:r>
            <a:r>
              <a:rPr lang="en-US" sz="1800" b="1">
                <a:solidFill>
                  <a:srgbClr val="374151"/>
                </a:solidFill>
              </a:rPr>
              <a:t>Data Quality</a:t>
            </a:r>
            <a:r>
              <a:rPr lang="en-US" sz="1800">
                <a:solidFill>
                  <a:srgbClr val="374151"/>
                </a:solidFill>
              </a:rPr>
              <a:t>: Constraint validation &amp; monitoring</a:t>
            </a:r>
            <a:endParaRPr sz="1800">
              <a:solidFill>
                <a:srgbClr val="374151"/>
              </a:solidFill>
            </a:endParaRPr>
          </a:p>
          <a:p>
            <a:pPr marL="0" lvl="0" indent="0" algn="l" rtl="0">
              <a:spcBef>
                <a:spcPts val="0"/>
              </a:spcBef>
              <a:spcAft>
                <a:spcPts val="0"/>
              </a:spcAft>
              <a:buNone/>
            </a:pPr>
            <a:endParaRPr sz="2100"/>
          </a:p>
        </p:txBody>
      </p:sp>
      <p:sp>
        <p:nvSpPr>
          <p:cNvPr id="138" name="Google Shape;138;p6"/>
          <p:cNvSpPr txBox="1"/>
          <p:nvPr/>
        </p:nvSpPr>
        <p:spPr>
          <a:xfrm>
            <a:off x="6453300" y="1439100"/>
            <a:ext cx="4760100" cy="24951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Clr>
                <a:srgbClr val="374151"/>
              </a:buClr>
              <a:buSzPts val="1900"/>
              <a:buChar char="●"/>
            </a:pPr>
            <a:r>
              <a:rPr lang="en-US" sz="1900">
                <a:solidFill>
                  <a:srgbClr val="374151"/>
                </a:solidFill>
              </a:rPr>
              <a:t>Lot-level tracking with genealogy</a:t>
            </a:r>
            <a:endParaRPr sz="1900">
              <a:solidFill>
                <a:srgbClr val="374151"/>
              </a:solidFill>
            </a:endParaRPr>
          </a:p>
          <a:p>
            <a:pPr marL="457200" lvl="0" indent="-349250" algn="l" rtl="0">
              <a:lnSpc>
                <a:spcPct val="115000"/>
              </a:lnSpc>
              <a:spcBef>
                <a:spcPts val="0"/>
              </a:spcBef>
              <a:spcAft>
                <a:spcPts val="0"/>
              </a:spcAft>
              <a:buClr>
                <a:srgbClr val="374151"/>
              </a:buClr>
              <a:buSzPts val="1900"/>
              <a:buChar char="●"/>
            </a:pPr>
            <a:r>
              <a:rPr lang="en-US" sz="1900">
                <a:solidFill>
                  <a:srgbClr val="374151"/>
                </a:solidFill>
              </a:rPr>
              <a:t>Multi-warehouse inventory management</a:t>
            </a:r>
            <a:endParaRPr sz="1900">
              <a:solidFill>
                <a:srgbClr val="374151"/>
              </a:solidFill>
            </a:endParaRPr>
          </a:p>
          <a:p>
            <a:pPr marL="457200" lvl="0" indent="-349250" algn="l" rtl="0">
              <a:lnSpc>
                <a:spcPct val="115000"/>
              </a:lnSpc>
              <a:spcBef>
                <a:spcPts val="0"/>
              </a:spcBef>
              <a:spcAft>
                <a:spcPts val="0"/>
              </a:spcAft>
              <a:buClr>
                <a:srgbClr val="374151"/>
              </a:buClr>
              <a:buSzPts val="1900"/>
              <a:buChar char="●"/>
            </a:pPr>
            <a:r>
              <a:rPr lang="en-US" sz="1900">
                <a:solidFill>
                  <a:srgbClr val="374151"/>
                </a:solidFill>
              </a:rPr>
              <a:t>Quality test integration</a:t>
            </a:r>
            <a:endParaRPr sz="1900">
              <a:solidFill>
                <a:srgbClr val="374151"/>
              </a:solidFill>
            </a:endParaRPr>
          </a:p>
          <a:p>
            <a:pPr marL="457200" lvl="0" indent="-349250" algn="l" rtl="0">
              <a:lnSpc>
                <a:spcPct val="115000"/>
              </a:lnSpc>
              <a:spcBef>
                <a:spcPts val="0"/>
              </a:spcBef>
              <a:spcAft>
                <a:spcPts val="0"/>
              </a:spcAft>
              <a:buClr>
                <a:srgbClr val="374151"/>
              </a:buClr>
              <a:buSzPts val="1900"/>
              <a:buChar char="●"/>
            </a:pPr>
            <a:r>
              <a:rPr lang="en-US" sz="1900">
                <a:solidFill>
                  <a:srgbClr val="374151"/>
                </a:solidFill>
              </a:rPr>
              <a:t>Recall management system</a:t>
            </a:r>
            <a:endParaRPr sz="1900">
              <a:solidFill>
                <a:srgbClr val="374151"/>
              </a:solidFill>
            </a:endParaRPr>
          </a:p>
          <a:p>
            <a:pPr marL="457200" lvl="0" indent="-349250" algn="l" rtl="0">
              <a:lnSpc>
                <a:spcPct val="115000"/>
              </a:lnSpc>
              <a:spcBef>
                <a:spcPts val="0"/>
              </a:spcBef>
              <a:spcAft>
                <a:spcPts val="0"/>
              </a:spcAft>
              <a:buClr>
                <a:srgbClr val="374151"/>
              </a:buClr>
              <a:buSzPts val="1900"/>
              <a:buChar char="●"/>
            </a:pPr>
            <a:r>
              <a:rPr lang="en-US" sz="1900">
                <a:solidFill>
                  <a:srgbClr val="374151"/>
                </a:solidFill>
              </a:rPr>
              <a:t>Order &amp; shipment tracking</a:t>
            </a:r>
            <a:endParaRPr sz="1900">
              <a:solidFill>
                <a:srgbClr val="374151"/>
              </a:solidFill>
            </a:endParaRPr>
          </a:p>
          <a:p>
            <a:pPr marL="457200" lvl="0" indent="-349250" algn="l" rtl="0">
              <a:lnSpc>
                <a:spcPct val="115000"/>
              </a:lnSpc>
              <a:spcBef>
                <a:spcPts val="0"/>
              </a:spcBef>
              <a:spcAft>
                <a:spcPts val="0"/>
              </a:spcAft>
              <a:buClr>
                <a:srgbClr val="374151"/>
              </a:buClr>
              <a:buSzPts val="1900"/>
              <a:buChar char="●"/>
            </a:pPr>
            <a:r>
              <a:rPr lang="en-US" sz="1900">
                <a:solidFill>
                  <a:srgbClr val="374151"/>
                </a:solidFill>
              </a:rPr>
              <a:t>Encrypted sensitive data</a:t>
            </a:r>
            <a:endParaRPr sz="2200"/>
          </a:p>
        </p:txBody>
      </p:sp>
      <p:pic>
        <p:nvPicPr>
          <p:cNvPr id="139" name="Google Shape;139;p6" title="Screenshot 2025-12-01 at 12.17.38 PM.png"/>
          <p:cNvPicPr preferRelativeResize="0"/>
          <p:nvPr/>
        </p:nvPicPr>
        <p:blipFill>
          <a:blip r:embed="rId6">
            <a:alphaModFix/>
          </a:blip>
          <a:stretch>
            <a:fillRect/>
          </a:stretch>
        </p:blipFill>
        <p:spPr>
          <a:xfrm>
            <a:off x="50450" y="3881850"/>
            <a:ext cx="12091100" cy="2976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7" descr="preencoded.png"/>
          <p:cNvPicPr preferRelativeResize="0"/>
          <p:nvPr/>
        </p:nvPicPr>
        <p:blipFill rotWithShape="1">
          <a:blip r:embed="rId3">
            <a:alphaModFix/>
          </a:blip>
          <a:srcRect/>
          <a:stretch/>
        </p:blipFill>
        <p:spPr>
          <a:xfrm>
            <a:off x="0" y="0"/>
            <a:ext cx="12192000" cy="762000"/>
          </a:xfrm>
          <a:prstGeom prst="rect">
            <a:avLst/>
          </a:prstGeom>
          <a:noFill/>
          <a:ln>
            <a:noFill/>
          </a:ln>
        </p:spPr>
      </p:pic>
      <p:pic>
        <p:nvPicPr>
          <p:cNvPr id="146" name="Google Shape;146;p7" descr="preencoded.png"/>
          <p:cNvPicPr preferRelativeResize="0"/>
          <p:nvPr/>
        </p:nvPicPr>
        <p:blipFill rotWithShape="1">
          <a:blip r:embed="rId4">
            <a:alphaModFix/>
          </a:blip>
          <a:srcRect/>
          <a:stretch/>
        </p:blipFill>
        <p:spPr>
          <a:xfrm>
            <a:off x="1825972" y="1257300"/>
            <a:ext cx="8539907" cy="457200"/>
          </a:xfrm>
          <a:prstGeom prst="rect">
            <a:avLst/>
          </a:prstGeom>
          <a:noFill/>
          <a:ln>
            <a:noFill/>
          </a:ln>
        </p:spPr>
      </p:pic>
      <p:pic>
        <p:nvPicPr>
          <p:cNvPr id="147" name="Google Shape;147;p7" descr="preencoded.png"/>
          <p:cNvPicPr preferRelativeResize="0"/>
          <p:nvPr/>
        </p:nvPicPr>
        <p:blipFill rotWithShape="1">
          <a:blip r:embed="rId5">
            <a:alphaModFix/>
          </a:blip>
          <a:srcRect/>
          <a:stretch/>
        </p:blipFill>
        <p:spPr>
          <a:xfrm>
            <a:off x="1940272" y="1409700"/>
            <a:ext cx="152400" cy="152400"/>
          </a:xfrm>
          <a:prstGeom prst="rect">
            <a:avLst/>
          </a:prstGeom>
          <a:noFill/>
          <a:ln>
            <a:noFill/>
          </a:ln>
        </p:spPr>
      </p:pic>
      <p:pic>
        <p:nvPicPr>
          <p:cNvPr id="148" name="Google Shape;148;p7" descr="preencoded.png"/>
          <p:cNvPicPr preferRelativeResize="0"/>
          <p:nvPr/>
        </p:nvPicPr>
        <p:blipFill rotWithShape="1">
          <a:blip r:embed="rId5">
            <a:alphaModFix/>
          </a:blip>
          <a:srcRect/>
          <a:stretch/>
        </p:blipFill>
        <p:spPr>
          <a:xfrm>
            <a:off x="3810298" y="1409700"/>
            <a:ext cx="152400" cy="152400"/>
          </a:xfrm>
          <a:prstGeom prst="rect">
            <a:avLst/>
          </a:prstGeom>
          <a:noFill/>
          <a:ln>
            <a:noFill/>
          </a:ln>
        </p:spPr>
      </p:pic>
      <p:pic>
        <p:nvPicPr>
          <p:cNvPr id="149" name="Google Shape;149;p7" descr="preencoded.png"/>
          <p:cNvPicPr preferRelativeResize="0"/>
          <p:nvPr/>
        </p:nvPicPr>
        <p:blipFill rotWithShape="1">
          <a:blip r:embed="rId5">
            <a:alphaModFix/>
          </a:blip>
          <a:srcRect/>
          <a:stretch/>
        </p:blipFill>
        <p:spPr>
          <a:xfrm>
            <a:off x="5986016" y="1409700"/>
            <a:ext cx="152400" cy="152400"/>
          </a:xfrm>
          <a:prstGeom prst="rect">
            <a:avLst/>
          </a:prstGeom>
          <a:noFill/>
          <a:ln>
            <a:noFill/>
          </a:ln>
        </p:spPr>
      </p:pic>
      <p:pic>
        <p:nvPicPr>
          <p:cNvPr id="150" name="Google Shape;150;p7" descr="preencoded.png"/>
          <p:cNvPicPr preferRelativeResize="0"/>
          <p:nvPr/>
        </p:nvPicPr>
        <p:blipFill rotWithShape="1">
          <a:blip r:embed="rId5">
            <a:alphaModFix/>
          </a:blip>
          <a:srcRect/>
          <a:stretch/>
        </p:blipFill>
        <p:spPr>
          <a:xfrm>
            <a:off x="7892653" y="1409700"/>
            <a:ext cx="152400" cy="152400"/>
          </a:xfrm>
          <a:prstGeom prst="rect">
            <a:avLst/>
          </a:prstGeom>
          <a:noFill/>
          <a:ln>
            <a:noFill/>
          </a:ln>
        </p:spPr>
      </p:pic>
      <p:sp>
        <p:nvSpPr>
          <p:cNvPr id="151" name="Google Shape;151;p7"/>
          <p:cNvSpPr/>
          <p:nvPr/>
        </p:nvSpPr>
        <p:spPr>
          <a:xfrm>
            <a:off x="381000" y="209550"/>
            <a:ext cx="4284107"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ERD &amp; Schema Design</a:t>
            </a:r>
            <a:endParaRPr sz="2250" b="0" i="0" u="none" strike="noStrike" cap="none">
              <a:solidFill>
                <a:schemeClr val="dk1"/>
              </a:solidFill>
              <a:latin typeface="Calibri"/>
              <a:ea typeface="Calibri"/>
              <a:cs typeface="Calibri"/>
              <a:sym typeface="Calibri"/>
            </a:endParaRPr>
          </a:p>
        </p:txBody>
      </p:sp>
      <p:sp>
        <p:nvSpPr>
          <p:cNvPr id="152" name="Google Shape;152;p7"/>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153" name="Google Shape;153;p7"/>
          <p:cNvSpPr/>
          <p:nvPr/>
        </p:nvSpPr>
        <p:spPr>
          <a:xfrm>
            <a:off x="228600" y="990600"/>
            <a:ext cx="11734800" cy="266700"/>
          </a:xfrm>
          <a:prstGeom prst="rect">
            <a:avLst/>
          </a:prstGeom>
          <a:noFill/>
          <a:ln>
            <a:noFill/>
          </a:ln>
        </p:spPr>
        <p:txBody>
          <a:bodyPr spcFirstLastPara="1" wrap="square" lIns="0" tIns="0" rIns="0" bIns="0" anchor="t" anchorCtr="0">
            <a:noAutofit/>
          </a:bodyPr>
          <a:lstStyle/>
          <a:p>
            <a:pPr marL="0" marR="0" lvl="0" indent="0" algn="ctr" rtl="0">
              <a:lnSpc>
                <a:spcPct val="155555"/>
              </a:lnSpc>
              <a:spcBef>
                <a:spcPts val="0"/>
              </a:spcBef>
              <a:spcAft>
                <a:spcPts val="0"/>
              </a:spcAft>
              <a:buClr>
                <a:srgbClr val="4B5563"/>
              </a:buClr>
              <a:buSzPts val="1350"/>
              <a:buFont typeface="Arial"/>
              <a:buNone/>
            </a:pPr>
            <a:r>
              <a:rPr lang="en-US" sz="1350" b="0" i="1" u="none" strike="noStrike" cap="none">
                <a:solidFill>
                  <a:srgbClr val="4B5563"/>
                </a:solidFill>
                <a:latin typeface="Arial"/>
                <a:ea typeface="Arial"/>
                <a:cs typeface="Arial"/>
                <a:sym typeface="Arial"/>
              </a:rPr>
              <a:t>Core schema with normalized entities and relationships</a:t>
            </a:r>
            <a:endParaRPr sz="1350" b="0" i="0" u="none" strike="noStrike" cap="none">
              <a:solidFill>
                <a:schemeClr val="dk1"/>
              </a:solidFill>
              <a:latin typeface="Calibri"/>
              <a:ea typeface="Calibri"/>
              <a:cs typeface="Calibri"/>
              <a:sym typeface="Calibri"/>
            </a:endParaRPr>
          </a:p>
        </p:txBody>
      </p:sp>
      <p:sp>
        <p:nvSpPr>
          <p:cNvPr id="154" name="Google Shape;154;p7"/>
          <p:cNvSpPr/>
          <p:nvPr/>
        </p:nvSpPr>
        <p:spPr>
          <a:xfrm>
            <a:off x="1978372" y="1371600"/>
            <a:ext cx="219831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Normalized to 3NF</a:t>
            </a:r>
            <a:endParaRPr sz="1200" b="0" i="0" u="none" strike="noStrike" cap="none">
              <a:solidFill>
                <a:schemeClr val="dk1"/>
              </a:solidFill>
              <a:latin typeface="Calibri"/>
              <a:ea typeface="Calibri"/>
              <a:cs typeface="Calibri"/>
              <a:sym typeface="Calibri"/>
            </a:endParaRPr>
          </a:p>
        </p:txBody>
      </p:sp>
      <p:sp>
        <p:nvSpPr>
          <p:cNvPr id="155" name="Google Shape;155;p7"/>
          <p:cNvSpPr/>
          <p:nvPr/>
        </p:nvSpPr>
        <p:spPr>
          <a:xfrm>
            <a:off x="3848398" y="1371600"/>
            <a:ext cx="2565142"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Proper PK–FK mapping</a:t>
            </a:r>
            <a:endParaRPr sz="1200" b="0" i="0" u="none" strike="noStrike" cap="none">
              <a:solidFill>
                <a:schemeClr val="dk1"/>
              </a:solidFill>
              <a:latin typeface="Calibri"/>
              <a:ea typeface="Calibri"/>
              <a:cs typeface="Calibri"/>
              <a:sym typeface="Calibri"/>
            </a:endParaRPr>
          </a:p>
        </p:txBody>
      </p:sp>
      <p:sp>
        <p:nvSpPr>
          <p:cNvPr id="156" name="Google Shape;156;p7"/>
          <p:cNvSpPr/>
          <p:nvPr/>
        </p:nvSpPr>
        <p:spPr>
          <a:xfrm>
            <a:off x="6024116" y="1371600"/>
            <a:ext cx="2242245"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Avoids redundancy</a:t>
            </a:r>
            <a:endParaRPr sz="1200" b="0" i="0" u="none" strike="noStrike" cap="none">
              <a:solidFill>
                <a:schemeClr val="dk1"/>
              </a:solidFill>
              <a:latin typeface="Calibri"/>
              <a:ea typeface="Calibri"/>
              <a:cs typeface="Calibri"/>
              <a:sym typeface="Calibri"/>
            </a:endParaRPr>
          </a:p>
        </p:txBody>
      </p:sp>
      <p:sp>
        <p:nvSpPr>
          <p:cNvPr id="157" name="Google Shape;157;p7"/>
          <p:cNvSpPr/>
          <p:nvPr/>
        </p:nvSpPr>
        <p:spPr>
          <a:xfrm>
            <a:off x="7930753" y="1371600"/>
            <a:ext cx="305931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Ensures referential integrity</a:t>
            </a:r>
            <a:endParaRPr sz="1200" b="0" i="0" u="none" strike="noStrike" cap="none">
              <a:solidFill>
                <a:schemeClr val="dk1"/>
              </a:solidFill>
              <a:latin typeface="Calibri"/>
              <a:ea typeface="Calibri"/>
              <a:cs typeface="Calibri"/>
              <a:sym typeface="Calibri"/>
            </a:endParaRPr>
          </a:p>
        </p:txBody>
      </p:sp>
      <p:pic>
        <p:nvPicPr>
          <p:cNvPr id="158" name="Google Shape;158;p7" title="Screenshot 2025-12-01 at 12.24.09 PM.png"/>
          <p:cNvPicPr preferRelativeResize="0"/>
          <p:nvPr/>
        </p:nvPicPr>
        <p:blipFill>
          <a:blip r:embed="rId6">
            <a:alphaModFix/>
          </a:blip>
          <a:stretch>
            <a:fillRect/>
          </a:stretch>
        </p:blipFill>
        <p:spPr>
          <a:xfrm>
            <a:off x="152400" y="1866900"/>
            <a:ext cx="11559951"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8" descr="preencoded.png"/>
          <p:cNvPicPr preferRelativeResize="0"/>
          <p:nvPr/>
        </p:nvPicPr>
        <p:blipFill rotWithShape="1">
          <a:blip r:embed="rId3">
            <a:alphaModFix/>
          </a:blip>
          <a:srcRect/>
          <a:stretch/>
        </p:blipFill>
        <p:spPr>
          <a:xfrm>
            <a:off x="0" y="0"/>
            <a:ext cx="12191999" cy="7162802"/>
          </a:xfrm>
          <a:prstGeom prst="rect">
            <a:avLst/>
          </a:prstGeom>
          <a:noFill/>
          <a:ln>
            <a:noFill/>
          </a:ln>
        </p:spPr>
      </p:pic>
      <p:pic>
        <p:nvPicPr>
          <p:cNvPr id="165" name="Google Shape;165;p8"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166" name="Google Shape;166;p8" descr="preencoded.png"/>
          <p:cNvPicPr preferRelativeResize="0"/>
          <p:nvPr/>
        </p:nvPicPr>
        <p:blipFill rotWithShape="1">
          <a:blip r:embed="rId5">
            <a:alphaModFix/>
          </a:blip>
          <a:srcRect/>
          <a:stretch/>
        </p:blipFill>
        <p:spPr>
          <a:xfrm>
            <a:off x="190500" y="952500"/>
            <a:ext cx="5829300" cy="622401"/>
          </a:xfrm>
          <a:prstGeom prst="rect">
            <a:avLst/>
          </a:prstGeom>
          <a:noFill/>
          <a:ln>
            <a:noFill/>
          </a:ln>
        </p:spPr>
      </p:pic>
      <p:pic>
        <p:nvPicPr>
          <p:cNvPr id="167" name="Google Shape;167;p8" descr="preencoded.png"/>
          <p:cNvPicPr preferRelativeResize="0"/>
          <p:nvPr/>
        </p:nvPicPr>
        <p:blipFill rotWithShape="1">
          <a:blip r:embed="rId6">
            <a:alphaModFix/>
          </a:blip>
          <a:srcRect/>
          <a:stretch/>
        </p:blipFill>
        <p:spPr>
          <a:xfrm>
            <a:off x="304800" y="1104900"/>
            <a:ext cx="228600" cy="228600"/>
          </a:xfrm>
          <a:prstGeom prst="rect">
            <a:avLst/>
          </a:prstGeom>
          <a:noFill/>
          <a:ln>
            <a:noFill/>
          </a:ln>
        </p:spPr>
      </p:pic>
      <p:sp>
        <p:nvSpPr>
          <p:cNvPr id="168" name="Google Shape;168;p8"/>
          <p:cNvSpPr/>
          <p:nvPr/>
        </p:nvSpPr>
        <p:spPr>
          <a:xfrm>
            <a:off x="381000" y="38100"/>
            <a:ext cx="6982420" cy="685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Table Structures &amp; Implementation Highlights</a:t>
            </a:r>
            <a:endParaRPr sz="2250" b="0" i="0" u="none" strike="noStrike" cap="none">
              <a:solidFill>
                <a:schemeClr val="dk1"/>
              </a:solidFill>
              <a:latin typeface="Calibri"/>
              <a:ea typeface="Calibri"/>
              <a:cs typeface="Calibri"/>
              <a:sym typeface="Calibri"/>
            </a:endParaRPr>
          </a:p>
        </p:txBody>
      </p:sp>
      <p:sp>
        <p:nvSpPr>
          <p:cNvPr id="169" name="Google Shape;169;p8"/>
          <p:cNvSpPr/>
          <p:nvPr/>
        </p:nvSpPr>
        <p:spPr>
          <a:xfrm>
            <a:off x="7363420" y="114300"/>
            <a:ext cx="4447580" cy="5334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170" name="Google Shape;170;p8"/>
          <p:cNvSpPr/>
          <p:nvPr/>
        </p:nvSpPr>
        <p:spPr>
          <a:xfrm>
            <a:off x="647700" y="1066800"/>
            <a:ext cx="56007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DDL Implementation</a:t>
            </a:r>
            <a:endParaRPr sz="1800" b="0" i="0" u="none" strike="noStrike" cap="none">
              <a:solidFill>
                <a:schemeClr val="dk1"/>
              </a:solidFill>
              <a:latin typeface="Calibri"/>
              <a:ea typeface="Calibri"/>
              <a:cs typeface="Calibri"/>
              <a:sym typeface="Calibri"/>
            </a:endParaRPr>
          </a:p>
        </p:txBody>
      </p:sp>
      <p:pic>
        <p:nvPicPr>
          <p:cNvPr id="171" name="Google Shape;171;p8" title="Screenshot 2025-12-01 at 12.25.51 PM.png"/>
          <p:cNvPicPr preferRelativeResize="0"/>
          <p:nvPr/>
        </p:nvPicPr>
        <p:blipFill>
          <a:blip r:embed="rId7">
            <a:alphaModFix/>
          </a:blip>
          <a:stretch>
            <a:fillRect/>
          </a:stretch>
        </p:blipFill>
        <p:spPr>
          <a:xfrm>
            <a:off x="381000" y="1447800"/>
            <a:ext cx="5600699" cy="5034976"/>
          </a:xfrm>
          <a:prstGeom prst="rect">
            <a:avLst/>
          </a:prstGeom>
          <a:noFill/>
          <a:ln>
            <a:noFill/>
          </a:ln>
        </p:spPr>
      </p:pic>
      <p:pic>
        <p:nvPicPr>
          <p:cNvPr id="172" name="Google Shape;172;p8" title="Screenshot 2025-12-01 at 12.30.48 PM.png"/>
          <p:cNvPicPr preferRelativeResize="0"/>
          <p:nvPr/>
        </p:nvPicPr>
        <p:blipFill>
          <a:blip r:embed="rId8">
            <a:alphaModFix/>
          </a:blip>
          <a:stretch>
            <a:fillRect/>
          </a:stretch>
        </p:blipFill>
        <p:spPr>
          <a:xfrm>
            <a:off x="6645098" y="1526875"/>
            <a:ext cx="5019377" cy="4876833"/>
          </a:xfrm>
          <a:prstGeom prst="rect">
            <a:avLst/>
          </a:prstGeom>
          <a:noFill/>
          <a:ln>
            <a:noFill/>
          </a:ln>
        </p:spPr>
      </p:pic>
      <p:sp>
        <p:nvSpPr>
          <p:cNvPr id="173" name="Google Shape;173;p8"/>
          <p:cNvSpPr/>
          <p:nvPr/>
        </p:nvSpPr>
        <p:spPr>
          <a:xfrm>
            <a:off x="6645100" y="1111288"/>
            <a:ext cx="56007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a:solidFill>
                  <a:srgbClr val="1D4ED8"/>
                </a:solidFill>
              </a:rPr>
              <a:t>Stored Procedures</a:t>
            </a:r>
            <a:endParaRPr sz="1800" b="1">
              <a:solidFill>
                <a:srgbClr val="1D4ED8"/>
              </a:solidFill>
            </a:endParaRPr>
          </a:p>
          <a:p>
            <a:pPr marL="0" marR="0" lvl="0" indent="0" algn="l" rtl="0">
              <a:lnSpc>
                <a:spcPct val="133333"/>
              </a:lnSpc>
              <a:spcBef>
                <a:spcPts val="0"/>
              </a:spcBef>
              <a:spcAft>
                <a:spcPts val="0"/>
              </a:spcAft>
              <a:buClr>
                <a:srgbClr val="1D4ED8"/>
              </a:buClr>
              <a:buSzPts val="1800"/>
              <a:buFont typeface="Arial"/>
              <a:buNone/>
            </a:pPr>
            <a:endParaRPr sz="1800" b="1">
              <a:solidFill>
                <a:srgbClr val="1D4ED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9"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9"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181" name="Google Shape;181;p9" descr="preencoded.png"/>
          <p:cNvPicPr preferRelativeResize="0"/>
          <p:nvPr/>
        </p:nvPicPr>
        <p:blipFill rotWithShape="1">
          <a:blip r:embed="rId5">
            <a:alphaModFix/>
          </a:blip>
          <a:srcRect/>
          <a:stretch/>
        </p:blipFill>
        <p:spPr>
          <a:xfrm>
            <a:off x="381000" y="1181100"/>
            <a:ext cx="228600" cy="228600"/>
          </a:xfrm>
          <a:prstGeom prst="rect">
            <a:avLst/>
          </a:prstGeom>
          <a:noFill/>
          <a:ln>
            <a:noFill/>
          </a:ln>
        </p:spPr>
      </p:pic>
      <p:pic>
        <p:nvPicPr>
          <p:cNvPr id="182" name="Google Shape;182;p9" descr="preencoded.png"/>
          <p:cNvPicPr preferRelativeResize="0"/>
          <p:nvPr/>
        </p:nvPicPr>
        <p:blipFill rotWithShape="1">
          <a:blip r:embed="rId6">
            <a:alphaModFix/>
          </a:blip>
          <a:srcRect/>
          <a:stretch/>
        </p:blipFill>
        <p:spPr>
          <a:xfrm>
            <a:off x="381000" y="1676400"/>
            <a:ext cx="1752600" cy="1333500"/>
          </a:xfrm>
          <a:prstGeom prst="rect">
            <a:avLst/>
          </a:prstGeom>
          <a:noFill/>
          <a:ln>
            <a:noFill/>
          </a:ln>
        </p:spPr>
      </p:pic>
      <p:pic>
        <p:nvPicPr>
          <p:cNvPr id="183" name="Google Shape;183;p9" descr="preencoded.png"/>
          <p:cNvPicPr preferRelativeResize="0"/>
          <p:nvPr/>
        </p:nvPicPr>
        <p:blipFill rotWithShape="1">
          <a:blip r:embed="rId7">
            <a:alphaModFix/>
          </a:blip>
          <a:srcRect/>
          <a:stretch/>
        </p:blipFill>
        <p:spPr>
          <a:xfrm>
            <a:off x="533400" y="1866900"/>
            <a:ext cx="190500" cy="190500"/>
          </a:xfrm>
          <a:prstGeom prst="rect">
            <a:avLst/>
          </a:prstGeom>
          <a:noFill/>
          <a:ln>
            <a:noFill/>
          </a:ln>
        </p:spPr>
      </p:pic>
      <p:pic>
        <p:nvPicPr>
          <p:cNvPr id="184" name="Google Shape;184;p9" descr="preencoded.png"/>
          <p:cNvPicPr preferRelativeResize="0"/>
          <p:nvPr/>
        </p:nvPicPr>
        <p:blipFill rotWithShape="1">
          <a:blip r:embed="rId8">
            <a:alphaModFix/>
          </a:blip>
          <a:srcRect/>
          <a:stretch/>
        </p:blipFill>
        <p:spPr>
          <a:xfrm>
            <a:off x="2286000" y="1676400"/>
            <a:ext cx="1752600" cy="1333500"/>
          </a:xfrm>
          <a:prstGeom prst="rect">
            <a:avLst/>
          </a:prstGeom>
          <a:noFill/>
          <a:ln>
            <a:noFill/>
          </a:ln>
        </p:spPr>
      </p:pic>
      <p:pic>
        <p:nvPicPr>
          <p:cNvPr id="185" name="Google Shape;185;p9" descr="preencoded.png"/>
          <p:cNvPicPr preferRelativeResize="0"/>
          <p:nvPr/>
        </p:nvPicPr>
        <p:blipFill rotWithShape="1">
          <a:blip r:embed="rId7">
            <a:alphaModFix/>
          </a:blip>
          <a:srcRect/>
          <a:stretch/>
        </p:blipFill>
        <p:spPr>
          <a:xfrm>
            <a:off x="2438400" y="1866900"/>
            <a:ext cx="190500" cy="190500"/>
          </a:xfrm>
          <a:prstGeom prst="rect">
            <a:avLst/>
          </a:prstGeom>
          <a:noFill/>
          <a:ln>
            <a:noFill/>
          </a:ln>
        </p:spPr>
      </p:pic>
      <p:pic>
        <p:nvPicPr>
          <p:cNvPr id="186" name="Google Shape;186;p9" descr="preencoded.png"/>
          <p:cNvPicPr preferRelativeResize="0"/>
          <p:nvPr/>
        </p:nvPicPr>
        <p:blipFill rotWithShape="1">
          <a:blip r:embed="rId6">
            <a:alphaModFix/>
          </a:blip>
          <a:srcRect/>
          <a:stretch/>
        </p:blipFill>
        <p:spPr>
          <a:xfrm>
            <a:off x="4191000" y="1676400"/>
            <a:ext cx="1752600" cy="1333500"/>
          </a:xfrm>
          <a:prstGeom prst="rect">
            <a:avLst/>
          </a:prstGeom>
          <a:noFill/>
          <a:ln>
            <a:noFill/>
          </a:ln>
        </p:spPr>
      </p:pic>
      <p:pic>
        <p:nvPicPr>
          <p:cNvPr id="187" name="Google Shape;187;p9" descr="preencoded.png"/>
          <p:cNvPicPr preferRelativeResize="0"/>
          <p:nvPr/>
        </p:nvPicPr>
        <p:blipFill rotWithShape="1">
          <a:blip r:embed="rId7">
            <a:alphaModFix/>
          </a:blip>
          <a:srcRect/>
          <a:stretch/>
        </p:blipFill>
        <p:spPr>
          <a:xfrm>
            <a:off x="4343400" y="1866900"/>
            <a:ext cx="190500" cy="190500"/>
          </a:xfrm>
          <a:prstGeom prst="rect">
            <a:avLst/>
          </a:prstGeom>
          <a:noFill/>
          <a:ln>
            <a:noFill/>
          </a:ln>
        </p:spPr>
      </p:pic>
      <p:pic>
        <p:nvPicPr>
          <p:cNvPr id="188" name="Google Shape;188;p9" descr="preencoded.png"/>
          <p:cNvPicPr preferRelativeResize="0"/>
          <p:nvPr/>
        </p:nvPicPr>
        <p:blipFill rotWithShape="1">
          <a:blip r:embed="rId9">
            <a:alphaModFix/>
          </a:blip>
          <a:srcRect/>
          <a:stretch/>
        </p:blipFill>
        <p:spPr>
          <a:xfrm>
            <a:off x="381000" y="3238500"/>
            <a:ext cx="5562600" cy="1600200"/>
          </a:xfrm>
          <a:prstGeom prst="rect">
            <a:avLst/>
          </a:prstGeom>
          <a:noFill/>
          <a:ln>
            <a:noFill/>
          </a:ln>
        </p:spPr>
      </p:pic>
      <p:pic>
        <p:nvPicPr>
          <p:cNvPr id="189" name="Google Shape;189;p9" descr="preencoded.png"/>
          <p:cNvPicPr preferRelativeResize="0"/>
          <p:nvPr/>
        </p:nvPicPr>
        <p:blipFill rotWithShape="1">
          <a:blip r:embed="rId10">
            <a:alphaModFix/>
          </a:blip>
          <a:srcRect/>
          <a:stretch/>
        </p:blipFill>
        <p:spPr>
          <a:xfrm>
            <a:off x="6248400" y="1181100"/>
            <a:ext cx="285750" cy="228600"/>
          </a:xfrm>
          <a:prstGeom prst="rect">
            <a:avLst/>
          </a:prstGeom>
          <a:noFill/>
          <a:ln>
            <a:noFill/>
          </a:ln>
        </p:spPr>
      </p:pic>
      <p:pic>
        <p:nvPicPr>
          <p:cNvPr id="190" name="Google Shape;190;p9" descr="preencoded.png"/>
          <p:cNvPicPr preferRelativeResize="0"/>
          <p:nvPr/>
        </p:nvPicPr>
        <p:blipFill rotWithShape="1">
          <a:blip r:embed="rId11">
            <a:alphaModFix/>
          </a:blip>
          <a:srcRect/>
          <a:stretch/>
        </p:blipFill>
        <p:spPr>
          <a:xfrm>
            <a:off x="6248400" y="1676400"/>
            <a:ext cx="5562600" cy="2286000"/>
          </a:xfrm>
          <a:prstGeom prst="rect">
            <a:avLst/>
          </a:prstGeom>
          <a:noFill/>
          <a:ln>
            <a:noFill/>
          </a:ln>
        </p:spPr>
      </p:pic>
      <p:pic>
        <p:nvPicPr>
          <p:cNvPr id="191" name="Google Shape;191;p9" descr="preencoded.png"/>
          <p:cNvPicPr preferRelativeResize="0"/>
          <p:nvPr/>
        </p:nvPicPr>
        <p:blipFill rotWithShape="1">
          <a:blip r:embed="rId12">
            <a:alphaModFix/>
          </a:blip>
          <a:srcRect/>
          <a:stretch/>
        </p:blipFill>
        <p:spPr>
          <a:xfrm>
            <a:off x="6438900" y="2247900"/>
            <a:ext cx="5181600" cy="1524000"/>
          </a:xfrm>
          <a:prstGeom prst="rect">
            <a:avLst/>
          </a:prstGeom>
          <a:noFill/>
          <a:ln>
            <a:noFill/>
          </a:ln>
        </p:spPr>
      </p:pic>
      <p:pic>
        <p:nvPicPr>
          <p:cNvPr id="192" name="Google Shape;192;p9" descr="preencoded.png"/>
          <p:cNvPicPr preferRelativeResize="0"/>
          <p:nvPr/>
        </p:nvPicPr>
        <p:blipFill rotWithShape="1">
          <a:blip r:embed="rId13">
            <a:alphaModFix/>
          </a:blip>
          <a:srcRect/>
          <a:stretch/>
        </p:blipFill>
        <p:spPr>
          <a:xfrm>
            <a:off x="6438900" y="2247900"/>
            <a:ext cx="5181600" cy="381000"/>
          </a:xfrm>
          <a:prstGeom prst="rect">
            <a:avLst/>
          </a:prstGeom>
          <a:noFill/>
          <a:ln>
            <a:noFill/>
          </a:ln>
        </p:spPr>
      </p:pic>
      <p:pic>
        <p:nvPicPr>
          <p:cNvPr id="193" name="Google Shape;193;p9" descr="preencoded.png"/>
          <p:cNvPicPr preferRelativeResize="0"/>
          <p:nvPr/>
        </p:nvPicPr>
        <p:blipFill rotWithShape="1">
          <a:blip r:embed="rId14">
            <a:alphaModFix/>
          </a:blip>
          <a:srcRect/>
          <a:stretch/>
        </p:blipFill>
        <p:spPr>
          <a:xfrm>
            <a:off x="6438900" y="2247900"/>
            <a:ext cx="1319808" cy="381000"/>
          </a:xfrm>
          <a:prstGeom prst="rect">
            <a:avLst/>
          </a:prstGeom>
          <a:noFill/>
          <a:ln>
            <a:noFill/>
          </a:ln>
        </p:spPr>
      </p:pic>
      <p:pic>
        <p:nvPicPr>
          <p:cNvPr id="194" name="Google Shape;194;p9" descr="preencoded.png"/>
          <p:cNvPicPr preferRelativeResize="0"/>
          <p:nvPr/>
        </p:nvPicPr>
        <p:blipFill rotWithShape="1">
          <a:blip r:embed="rId15">
            <a:alphaModFix/>
          </a:blip>
          <a:srcRect/>
          <a:stretch/>
        </p:blipFill>
        <p:spPr>
          <a:xfrm>
            <a:off x="7758708" y="2247900"/>
            <a:ext cx="1460153" cy="381000"/>
          </a:xfrm>
          <a:prstGeom prst="rect">
            <a:avLst/>
          </a:prstGeom>
          <a:noFill/>
          <a:ln>
            <a:noFill/>
          </a:ln>
        </p:spPr>
      </p:pic>
      <p:pic>
        <p:nvPicPr>
          <p:cNvPr id="195" name="Google Shape;195;p9" descr="preencoded.png"/>
          <p:cNvPicPr preferRelativeResize="0"/>
          <p:nvPr/>
        </p:nvPicPr>
        <p:blipFill rotWithShape="1">
          <a:blip r:embed="rId16">
            <a:alphaModFix/>
          </a:blip>
          <a:srcRect/>
          <a:stretch/>
        </p:blipFill>
        <p:spPr>
          <a:xfrm>
            <a:off x="9218861" y="2247900"/>
            <a:ext cx="2401639" cy="381000"/>
          </a:xfrm>
          <a:prstGeom prst="rect">
            <a:avLst/>
          </a:prstGeom>
          <a:noFill/>
          <a:ln>
            <a:noFill/>
          </a:ln>
        </p:spPr>
      </p:pic>
      <p:pic>
        <p:nvPicPr>
          <p:cNvPr id="196" name="Google Shape;196;p9" descr="preencoded.png"/>
          <p:cNvPicPr preferRelativeResize="0"/>
          <p:nvPr/>
        </p:nvPicPr>
        <p:blipFill rotWithShape="1">
          <a:blip r:embed="rId14">
            <a:alphaModFix/>
          </a:blip>
          <a:srcRect/>
          <a:stretch/>
        </p:blipFill>
        <p:spPr>
          <a:xfrm>
            <a:off x="6438900" y="2628900"/>
            <a:ext cx="1319808" cy="381000"/>
          </a:xfrm>
          <a:prstGeom prst="rect">
            <a:avLst/>
          </a:prstGeom>
          <a:noFill/>
          <a:ln>
            <a:noFill/>
          </a:ln>
        </p:spPr>
      </p:pic>
      <p:pic>
        <p:nvPicPr>
          <p:cNvPr id="197" name="Google Shape;197;p9" descr="preencoded.png"/>
          <p:cNvPicPr preferRelativeResize="0"/>
          <p:nvPr/>
        </p:nvPicPr>
        <p:blipFill rotWithShape="1">
          <a:blip r:embed="rId15">
            <a:alphaModFix/>
          </a:blip>
          <a:srcRect/>
          <a:stretch/>
        </p:blipFill>
        <p:spPr>
          <a:xfrm>
            <a:off x="7758708" y="2628900"/>
            <a:ext cx="1460153" cy="381000"/>
          </a:xfrm>
          <a:prstGeom prst="rect">
            <a:avLst/>
          </a:prstGeom>
          <a:noFill/>
          <a:ln>
            <a:noFill/>
          </a:ln>
        </p:spPr>
      </p:pic>
      <p:pic>
        <p:nvPicPr>
          <p:cNvPr id="198" name="Google Shape;198;p9" descr="preencoded.png"/>
          <p:cNvPicPr preferRelativeResize="0"/>
          <p:nvPr/>
        </p:nvPicPr>
        <p:blipFill rotWithShape="1">
          <a:blip r:embed="rId16">
            <a:alphaModFix/>
          </a:blip>
          <a:srcRect/>
          <a:stretch/>
        </p:blipFill>
        <p:spPr>
          <a:xfrm>
            <a:off x="9218861" y="2628900"/>
            <a:ext cx="2401639" cy="381000"/>
          </a:xfrm>
          <a:prstGeom prst="rect">
            <a:avLst/>
          </a:prstGeom>
          <a:noFill/>
          <a:ln>
            <a:noFill/>
          </a:ln>
        </p:spPr>
      </p:pic>
      <p:pic>
        <p:nvPicPr>
          <p:cNvPr id="199" name="Google Shape;199;p9" descr="preencoded.png"/>
          <p:cNvPicPr preferRelativeResize="0"/>
          <p:nvPr/>
        </p:nvPicPr>
        <p:blipFill rotWithShape="1">
          <a:blip r:embed="rId14">
            <a:alphaModFix/>
          </a:blip>
          <a:srcRect/>
          <a:stretch/>
        </p:blipFill>
        <p:spPr>
          <a:xfrm>
            <a:off x="6438900" y="3009900"/>
            <a:ext cx="1319808" cy="381000"/>
          </a:xfrm>
          <a:prstGeom prst="rect">
            <a:avLst/>
          </a:prstGeom>
          <a:noFill/>
          <a:ln>
            <a:noFill/>
          </a:ln>
        </p:spPr>
      </p:pic>
      <p:pic>
        <p:nvPicPr>
          <p:cNvPr id="200" name="Google Shape;200;p9" descr="preencoded.png"/>
          <p:cNvPicPr preferRelativeResize="0"/>
          <p:nvPr/>
        </p:nvPicPr>
        <p:blipFill rotWithShape="1">
          <a:blip r:embed="rId15">
            <a:alphaModFix/>
          </a:blip>
          <a:srcRect/>
          <a:stretch/>
        </p:blipFill>
        <p:spPr>
          <a:xfrm>
            <a:off x="7758708" y="3009900"/>
            <a:ext cx="1460153" cy="381000"/>
          </a:xfrm>
          <a:prstGeom prst="rect">
            <a:avLst/>
          </a:prstGeom>
          <a:noFill/>
          <a:ln>
            <a:noFill/>
          </a:ln>
        </p:spPr>
      </p:pic>
      <p:pic>
        <p:nvPicPr>
          <p:cNvPr id="201" name="Google Shape;201;p9" descr="preencoded.png"/>
          <p:cNvPicPr preferRelativeResize="0"/>
          <p:nvPr/>
        </p:nvPicPr>
        <p:blipFill rotWithShape="1">
          <a:blip r:embed="rId16">
            <a:alphaModFix/>
          </a:blip>
          <a:srcRect/>
          <a:stretch/>
        </p:blipFill>
        <p:spPr>
          <a:xfrm>
            <a:off x="9218861" y="3009900"/>
            <a:ext cx="2401639" cy="381000"/>
          </a:xfrm>
          <a:prstGeom prst="rect">
            <a:avLst/>
          </a:prstGeom>
          <a:noFill/>
          <a:ln>
            <a:noFill/>
          </a:ln>
        </p:spPr>
      </p:pic>
      <p:pic>
        <p:nvPicPr>
          <p:cNvPr id="202" name="Google Shape;202;p9" descr="preencoded.png"/>
          <p:cNvPicPr preferRelativeResize="0"/>
          <p:nvPr/>
        </p:nvPicPr>
        <p:blipFill rotWithShape="1">
          <a:blip r:embed="rId14">
            <a:alphaModFix/>
          </a:blip>
          <a:srcRect/>
          <a:stretch/>
        </p:blipFill>
        <p:spPr>
          <a:xfrm>
            <a:off x="6438900" y="3390900"/>
            <a:ext cx="1319808" cy="381000"/>
          </a:xfrm>
          <a:prstGeom prst="rect">
            <a:avLst/>
          </a:prstGeom>
          <a:noFill/>
          <a:ln>
            <a:noFill/>
          </a:ln>
        </p:spPr>
      </p:pic>
      <p:pic>
        <p:nvPicPr>
          <p:cNvPr id="203" name="Google Shape;203;p9" descr="preencoded.png"/>
          <p:cNvPicPr preferRelativeResize="0"/>
          <p:nvPr/>
        </p:nvPicPr>
        <p:blipFill rotWithShape="1">
          <a:blip r:embed="rId15">
            <a:alphaModFix/>
          </a:blip>
          <a:srcRect/>
          <a:stretch/>
        </p:blipFill>
        <p:spPr>
          <a:xfrm>
            <a:off x="7758708" y="3390900"/>
            <a:ext cx="1460153" cy="381000"/>
          </a:xfrm>
          <a:prstGeom prst="rect">
            <a:avLst/>
          </a:prstGeom>
          <a:noFill/>
          <a:ln>
            <a:noFill/>
          </a:ln>
        </p:spPr>
      </p:pic>
      <p:pic>
        <p:nvPicPr>
          <p:cNvPr id="204" name="Google Shape;204;p9" descr="preencoded.png"/>
          <p:cNvPicPr preferRelativeResize="0"/>
          <p:nvPr/>
        </p:nvPicPr>
        <p:blipFill rotWithShape="1">
          <a:blip r:embed="rId16">
            <a:alphaModFix/>
          </a:blip>
          <a:srcRect/>
          <a:stretch/>
        </p:blipFill>
        <p:spPr>
          <a:xfrm>
            <a:off x="9218861" y="3390900"/>
            <a:ext cx="2401639" cy="381000"/>
          </a:xfrm>
          <a:prstGeom prst="rect">
            <a:avLst/>
          </a:prstGeom>
          <a:noFill/>
          <a:ln>
            <a:noFill/>
          </a:ln>
        </p:spPr>
      </p:pic>
      <p:pic>
        <p:nvPicPr>
          <p:cNvPr id="205" name="Google Shape;205;p9" descr="preencoded.png"/>
          <p:cNvPicPr preferRelativeResize="0"/>
          <p:nvPr/>
        </p:nvPicPr>
        <p:blipFill rotWithShape="1">
          <a:blip r:embed="rId17">
            <a:alphaModFix/>
          </a:blip>
          <a:srcRect/>
          <a:stretch/>
        </p:blipFill>
        <p:spPr>
          <a:xfrm>
            <a:off x="6248400" y="4191000"/>
            <a:ext cx="2705100" cy="876300"/>
          </a:xfrm>
          <a:prstGeom prst="rect">
            <a:avLst/>
          </a:prstGeom>
          <a:noFill/>
          <a:ln>
            <a:noFill/>
          </a:ln>
        </p:spPr>
      </p:pic>
      <p:pic>
        <p:nvPicPr>
          <p:cNvPr id="206" name="Google Shape;206;p9" descr="preencoded.png"/>
          <p:cNvPicPr preferRelativeResize="0"/>
          <p:nvPr/>
        </p:nvPicPr>
        <p:blipFill rotWithShape="1">
          <a:blip r:embed="rId18">
            <a:alphaModFix/>
          </a:blip>
          <a:srcRect/>
          <a:stretch/>
        </p:blipFill>
        <p:spPr>
          <a:xfrm>
            <a:off x="6400800" y="4381500"/>
            <a:ext cx="190500" cy="190500"/>
          </a:xfrm>
          <a:prstGeom prst="rect">
            <a:avLst/>
          </a:prstGeom>
          <a:noFill/>
          <a:ln>
            <a:noFill/>
          </a:ln>
        </p:spPr>
      </p:pic>
      <p:pic>
        <p:nvPicPr>
          <p:cNvPr id="207" name="Google Shape;207;p9" descr="preencoded.png"/>
          <p:cNvPicPr preferRelativeResize="0"/>
          <p:nvPr/>
        </p:nvPicPr>
        <p:blipFill rotWithShape="1">
          <a:blip r:embed="rId19">
            <a:alphaModFix/>
          </a:blip>
          <a:srcRect/>
          <a:stretch/>
        </p:blipFill>
        <p:spPr>
          <a:xfrm>
            <a:off x="9105900" y="4191000"/>
            <a:ext cx="2705100" cy="876300"/>
          </a:xfrm>
          <a:prstGeom prst="rect">
            <a:avLst/>
          </a:prstGeom>
          <a:noFill/>
          <a:ln>
            <a:noFill/>
          </a:ln>
        </p:spPr>
      </p:pic>
      <p:pic>
        <p:nvPicPr>
          <p:cNvPr id="208" name="Google Shape;208;p9" descr="preencoded.png"/>
          <p:cNvPicPr preferRelativeResize="0"/>
          <p:nvPr/>
        </p:nvPicPr>
        <p:blipFill rotWithShape="1">
          <a:blip r:embed="rId20">
            <a:alphaModFix/>
          </a:blip>
          <a:srcRect/>
          <a:stretch/>
        </p:blipFill>
        <p:spPr>
          <a:xfrm>
            <a:off x="9258300" y="4381500"/>
            <a:ext cx="171450" cy="190500"/>
          </a:xfrm>
          <a:prstGeom prst="rect">
            <a:avLst/>
          </a:prstGeom>
          <a:noFill/>
          <a:ln>
            <a:noFill/>
          </a:ln>
        </p:spPr>
      </p:pic>
      <p:pic>
        <p:nvPicPr>
          <p:cNvPr id="209" name="Google Shape;209;p9" descr="preencoded.png"/>
          <p:cNvPicPr preferRelativeResize="0"/>
          <p:nvPr/>
        </p:nvPicPr>
        <p:blipFill rotWithShape="1">
          <a:blip r:embed="rId21">
            <a:alphaModFix/>
          </a:blip>
          <a:srcRect/>
          <a:stretch/>
        </p:blipFill>
        <p:spPr>
          <a:xfrm>
            <a:off x="0" y="5448300"/>
            <a:ext cx="12192000" cy="571500"/>
          </a:xfrm>
          <a:prstGeom prst="rect">
            <a:avLst/>
          </a:prstGeom>
          <a:noFill/>
          <a:ln>
            <a:noFill/>
          </a:ln>
        </p:spPr>
      </p:pic>
      <p:sp>
        <p:nvSpPr>
          <p:cNvPr id="210" name="Google Shape;210;p9"/>
          <p:cNvSpPr/>
          <p:nvPr/>
        </p:nvSpPr>
        <p:spPr>
          <a:xfrm>
            <a:off x="381000" y="209550"/>
            <a:ext cx="6877288"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Database Normalization &amp; Integrity</a:t>
            </a:r>
            <a:endParaRPr sz="2250" b="0" i="0" u="none" strike="noStrike" cap="none">
              <a:solidFill>
                <a:schemeClr val="dk1"/>
              </a:solidFill>
              <a:latin typeface="Calibri"/>
              <a:ea typeface="Calibri"/>
              <a:cs typeface="Calibri"/>
              <a:sym typeface="Calibri"/>
            </a:endParaRPr>
          </a:p>
        </p:txBody>
      </p:sp>
      <p:sp>
        <p:nvSpPr>
          <p:cNvPr id="211" name="Google Shape;211;p9"/>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212" name="Google Shape;212;p9"/>
          <p:cNvSpPr/>
          <p:nvPr/>
        </p:nvSpPr>
        <p:spPr>
          <a:xfrm>
            <a:off x="723900" y="1143000"/>
            <a:ext cx="667512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Third Normal Form Implementation</a:t>
            </a:r>
            <a:endParaRPr sz="1800" b="0" i="0" u="none" strike="noStrike" cap="none">
              <a:solidFill>
                <a:schemeClr val="dk1"/>
              </a:solidFill>
              <a:latin typeface="Calibri"/>
              <a:ea typeface="Calibri"/>
              <a:cs typeface="Calibri"/>
              <a:sym typeface="Calibri"/>
            </a:endParaRPr>
          </a:p>
        </p:txBody>
      </p:sp>
      <p:sp>
        <p:nvSpPr>
          <p:cNvPr id="213" name="Google Shape;213;p9"/>
          <p:cNvSpPr/>
          <p:nvPr/>
        </p:nvSpPr>
        <p:spPr>
          <a:xfrm>
            <a:off x="800100" y="1828800"/>
            <a:ext cx="14478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0" i="0" u="none" strike="noStrike" cap="none">
                <a:solidFill>
                  <a:srgbClr val="1D4ED8"/>
                </a:solidFill>
                <a:latin typeface="Arial"/>
                <a:ea typeface="Arial"/>
                <a:cs typeface="Arial"/>
                <a:sym typeface="Arial"/>
              </a:rPr>
              <a:t>1NF</a:t>
            </a:r>
            <a:endParaRPr sz="1500" b="0" i="0" u="none" strike="noStrike" cap="none">
              <a:solidFill>
                <a:schemeClr val="dk1"/>
              </a:solidFill>
              <a:latin typeface="Calibri"/>
              <a:ea typeface="Calibri"/>
              <a:cs typeface="Calibri"/>
              <a:sym typeface="Calibri"/>
            </a:endParaRPr>
          </a:p>
        </p:txBody>
      </p:sp>
      <p:sp>
        <p:nvSpPr>
          <p:cNvPr id="214" name="Google Shape;214;p9"/>
          <p:cNvSpPr/>
          <p:nvPr/>
        </p:nvSpPr>
        <p:spPr>
          <a:xfrm>
            <a:off x="533400" y="2171700"/>
            <a:ext cx="1447800" cy="457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Eliminated atomic columns</a:t>
            </a:r>
            <a:endParaRPr sz="1200" b="0" i="0" u="none" strike="noStrike" cap="none">
              <a:solidFill>
                <a:schemeClr val="dk1"/>
              </a:solidFill>
              <a:latin typeface="Calibri"/>
              <a:ea typeface="Calibri"/>
              <a:cs typeface="Calibri"/>
              <a:sym typeface="Calibri"/>
            </a:endParaRPr>
          </a:p>
        </p:txBody>
      </p:sp>
      <p:sp>
        <p:nvSpPr>
          <p:cNvPr id="215" name="Google Shape;215;p9"/>
          <p:cNvSpPr/>
          <p:nvPr/>
        </p:nvSpPr>
        <p:spPr>
          <a:xfrm>
            <a:off x="2705100" y="1828800"/>
            <a:ext cx="14478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0" i="0" u="none" strike="noStrike" cap="none">
                <a:solidFill>
                  <a:srgbClr val="1D4ED8"/>
                </a:solidFill>
                <a:latin typeface="Arial"/>
                <a:ea typeface="Arial"/>
                <a:cs typeface="Arial"/>
                <a:sym typeface="Arial"/>
              </a:rPr>
              <a:t>2NF</a:t>
            </a:r>
            <a:endParaRPr sz="1500" b="0" i="0" u="none" strike="noStrike" cap="none">
              <a:solidFill>
                <a:schemeClr val="dk1"/>
              </a:solidFill>
              <a:latin typeface="Calibri"/>
              <a:ea typeface="Calibri"/>
              <a:cs typeface="Calibri"/>
              <a:sym typeface="Calibri"/>
            </a:endParaRPr>
          </a:p>
        </p:txBody>
      </p:sp>
      <p:sp>
        <p:nvSpPr>
          <p:cNvPr id="216" name="Google Shape;216;p9"/>
          <p:cNvSpPr/>
          <p:nvPr/>
        </p:nvSpPr>
        <p:spPr>
          <a:xfrm>
            <a:off x="2438400" y="2171700"/>
            <a:ext cx="1447800" cy="457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Removed partial dependencies</a:t>
            </a:r>
            <a:endParaRPr sz="1200" b="0" i="0" u="none" strike="noStrike" cap="none">
              <a:solidFill>
                <a:schemeClr val="dk1"/>
              </a:solidFill>
              <a:latin typeface="Calibri"/>
              <a:ea typeface="Calibri"/>
              <a:cs typeface="Calibri"/>
              <a:sym typeface="Calibri"/>
            </a:endParaRPr>
          </a:p>
        </p:txBody>
      </p:sp>
      <p:sp>
        <p:nvSpPr>
          <p:cNvPr id="217" name="Google Shape;217;p9"/>
          <p:cNvSpPr/>
          <p:nvPr/>
        </p:nvSpPr>
        <p:spPr>
          <a:xfrm>
            <a:off x="4610100" y="1828800"/>
            <a:ext cx="14478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0" i="0" u="none" strike="noStrike" cap="none">
                <a:solidFill>
                  <a:srgbClr val="1D4ED8"/>
                </a:solidFill>
                <a:latin typeface="Arial"/>
                <a:ea typeface="Arial"/>
                <a:cs typeface="Arial"/>
                <a:sym typeface="Arial"/>
              </a:rPr>
              <a:t>3NF</a:t>
            </a:r>
            <a:endParaRPr sz="1500" b="0" i="0" u="none" strike="noStrike" cap="none">
              <a:solidFill>
                <a:schemeClr val="dk1"/>
              </a:solidFill>
              <a:latin typeface="Calibri"/>
              <a:ea typeface="Calibri"/>
              <a:cs typeface="Calibri"/>
              <a:sym typeface="Calibri"/>
            </a:endParaRPr>
          </a:p>
        </p:txBody>
      </p:sp>
      <p:sp>
        <p:nvSpPr>
          <p:cNvPr id="218" name="Google Shape;218;p9"/>
          <p:cNvSpPr/>
          <p:nvPr/>
        </p:nvSpPr>
        <p:spPr>
          <a:xfrm>
            <a:off x="4343400" y="2171700"/>
            <a:ext cx="1447800" cy="685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Removed transitive dependencies</a:t>
            </a:r>
            <a:endParaRPr sz="1200" b="0" i="0" u="none" strike="noStrike" cap="none">
              <a:solidFill>
                <a:schemeClr val="dk1"/>
              </a:solidFill>
              <a:latin typeface="Calibri"/>
              <a:ea typeface="Calibri"/>
              <a:cs typeface="Calibri"/>
              <a:sym typeface="Calibri"/>
            </a:endParaRPr>
          </a:p>
        </p:txBody>
      </p:sp>
      <p:sp>
        <p:nvSpPr>
          <p:cNvPr id="219" name="Google Shape;219;p9"/>
          <p:cNvSpPr/>
          <p:nvPr/>
        </p:nvSpPr>
        <p:spPr>
          <a:xfrm>
            <a:off x="571500" y="3429000"/>
            <a:ext cx="51816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74151"/>
              </a:buClr>
              <a:buSzPts val="1500"/>
              <a:buFont typeface="Arial"/>
              <a:buNone/>
            </a:pPr>
            <a:r>
              <a:rPr lang="en-US" sz="1500" b="1" i="0" u="none" strike="noStrike" cap="none">
                <a:solidFill>
                  <a:srgbClr val="374151"/>
                </a:solidFill>
                <a:latin typeface="Arial"/>
                <a:ea typeface="Arial"/>
                <a:cs typeface="Arial"/>
                <a:sym typeface="Arial"/>
              </a:rPr>
              <a:t>Benefits of 3NF</a:t>
            </a:r>
            <a:endParaRPr sz="1500" b="0" i="0" u="none" strike="noStrike" cap="none">
              <a:solidFill>
                <a:schemeClr val="dk1"/>
              </a:solidFill>
              <a:latin typeface="Calibri"/>
              <a:ea typeface="Calibri"/>
              <a:cs typeface="Calibri"/>
              <a:sym typeface="Calibri"/>
            </a:endParaRPr>
          </a:p>
        </p:txBody>
      </p:sp>
      <p:sp>
        <p:nvSpPr>
          <p:cNvPr id="220" name="Google Shape;220;p9"/>
          <p:cNvSpPr/>
          <p:nvPr/>
        </p:nvSpPr>
        <p:spPr>
          <a:xfrm>
            <a:off x="609600" y="3810000"/>
            <a:ext cx="514350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Reduced data redundancy</a:t>
            </a:r>
            <a:endParaRPr sz="1200" b="0" i="0" u="none" strike="noStrike" cap="none">
              <a:solidFill>
                <a:schemeClr val="dk1"/>
              </a:solidFill>
              <a:latin typeface="Calibri"/>
              <a:ea typeface="Calibri"/>
              <a:cs typeface="Calibri"/>
              <a:sym typeface="Calibri"/>
            </a:endParaRPr>
          </a:p>
        </p:txBody>
      </p:sp>
      <p:sp>
        <p:nvSpPr>
          <p:cNvPr id="221" name="Google Shape;221;p9"/>
          <p:cNvSpPr/>
          <p:nvPr/>
        </p:nvSpPr>
        <p:spPr>
          <a:xfrm>
            <a:off x="609600" y="4114800"/>
            <a:ext cx="514350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Improved data consistency</a:t>
            </a:r>
            <a:endParaRPr sz="1200" b="0" i="0" u="none" strike="noStrike" cap="none">
              <a:solidFill>
                <a:schemeClr val="dk1"/>
              </a:solidFill>
              <a:latin typeface="Calibri"/>
              <a:ea typeface="Calibri"/>
              <a:cs typeface="Calibri"/>
              <a:sym typeface="Calibri"/>
            </a:endParaRPr>
          </a:p>
        </p:txBody>
      </p:sp>
      <p:sp>
        <p:nvSpPr>
          <p:cNvPr id="222" name="Google Shape;222;p9"/>
          <p:cNvSpPr/>
          <p:nvPr/>
        </p:nvSpPr>
        <p:spPr>
          <a:xfrm>
            <a:off x="609600" y="4419600"/>
            <a:ext cx="514350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Enhanced update efficiency</a:t>
            </a:r>
            <a:endParaRPr sz="1200" b="0" i="0" u="none" strike="noStrike" cap="none">
              <a:solidFill>
                <a:schemeClr val="dk1"/>
              </a:solidFill>
              <a:latin typeface="Calibri"/>
              <a:ea typeface="Calibri"/>
              <a:cs typeface="Calibri"/>
              <a:sym typeface="Calibri"/>
            </a:endParaRPr>
          </a:p>
        </p:txBody>
      </p:sp>
      <p:sp>
        <p:nvSpPr>
          <p:cNvPr id="223" name="Google Shape;223;p9"/>
          <p:cNvSpPr/>
          <p:nvPr/>
        </p:nvSpPr>
        <p:spPr>
          <a:xfrm>
            <a:off x="6648450" y="1143000"/>
            <a:ext cx="667512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Referential Integrity Measures</a:t>
            </a:r>
            <a:endParaRPr sz="1800" b="0" i="0" u="none" strike="noStrike" cap="none">
              <a:solidFill>
                <a:schemeClr val="dk1"/>
              </a:solidFill>
              <a:latin typeface="Calibri"/>
              <a:ea typeface="Calibri"/>
              <a:cs typeface="Calibri"/>
              <a:sym typeface="Calibri"/>
            </a:endParaRPr>
          </a:p>
        </p:txBody>
      </p:sp>
      <p:sp>
        <p:nvSpPr>
          <p:cNvPr id="224" name="Google Shape;224;p9"/>
          <p:cNvSpPr/>
          <p:nvPr/>
        </p:nvSpPr>
        <p:spPr>
          <a:xfrm>
            <a:off x="6438900" y="1866900"/>
            <a:ext cx="621792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74151"/>
              </a:buClr>
              <a:buSzPts val="1500"/>
              <a:buFont typeface="Arial"/>
              <a:buNone/>
            </a:pPr>
            <a:r>
              <a:rPr lang="en-US" sz="1500" b="1" i="0" u="none" strike="noStrike" cap="none">
                <a:solidFill>
                  <a:srgbClr val="374151"/>
                </a:solidFill>
                <a:latin typeface="Arial"/>
                <a:ea typeface="Arial"/>
                <a:cs typeface="Arial"/>
                <a:sym typeface="Arial"/>
              </a:rPr>
              <a:t>Primary &amp; Foreign Key Mapping</a:t>
            </a:r>
            <a:endParaRPr sz="1500" b="0" i="0" u="none" strike="noStrike" cap="none">
              <a:solidFill>
                <a:schemeClr val="dk1"/>
              </a:solidFill>
              <a:latin typeface="Calibri"/>
              <a:ea typeface="Calibri"/>
              <a:cs typeface="Calibri"/>
              <a:sym typeface="Calibri"/>
            </a:endParaRPr>
          </a:p>
        </p:txBody>
      </p:sp>
      <p:sp>
        <p:nvSpPr>
          <p:cNvPr id="225" name="Google Shape;225;p9"/>
          <p:cNvSpPr/>
          <p:nvPr/>
        </p:nvSpPr>
        <p:spPr>
          <a:xfrm>
            <a:off x="6591300" y="2247900"/>
            <a:ext cx="1319808"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Table</a:t>
            </a:r>
            <a:endParaRPr sz="1200" b="0" i="0" u="none" strike="noStrike" cap="none">
              <a:solidFill>
                <a:schemeClr val="dk1"/>
              </a:solidFill>
              <a:latin typeface="Calibri"/>
              <a:ea typeface="Calibri"/>
              <a:cs typeface="Calibri"/>
              <a:sym typeface="Calibri"/>
            </a:endParaRPr>
          </a:p>
        </p:txBody>
      </p:sp>
      <p:sp>
        <p:nvSpPr>
          <p:cNvPr id="226" name="Google Shape;226;p9"/>
          <p:cNvSpPr/>
          <p:nvPr/>
        </p:nvSpPr>
        <p:spPr>
          <a:xfrm>
            <a:off x="7911108" y="2247900"/>
            <a:ext cx="1460153"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PK</a:t>
            </a:r>
            <a:endParaRPr sz="1200" b="0" i="0" u="none" strike="noStrike" cap="none">
              <a:solidFill>
                <a:schemeClr val="dk1"/>
              </a:solidFill>
              <a:latin typeface="Calibri"/>
              <a:ea typeface="Calibri"/>
              <a:cs typeface="Calibri"/>
              <a:sym typeface="Calibri"/>
            </a:endParaRPr>
          </a:p>
        </p:txBody>
      </p:sp>
      <p:sp>
        <p:nvSpPr>
          <p:cNvPr id="227" name="Google Shape;227;p9"/>
          <p:cNvSpPr/>
          <p:nvPr/>
        </p:nvSpPr>
        <p:spPr>
          <a:xfrm>
            <a:off x="9371261" y="2247900"/>
            <a:ext cx="240163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FK</a:t>
            </a:r>
            <a:endParaRPr sz="1200" b="0" i="0" u="none" strike="noStrike" cap="none">
              <a:solidFill>
                <a:schemeClr val="dk1"/>
              </a:solidFill>
              <a:latin typeface="Calibri"/>
              <a:ea typeface="Calibri"/>
              <a:cs typeface="Calibri"/>
              <a:sym typeface="Calibri"/>
            </a:endParaRPr>
          </a:p>
        </p:txBody>
      </p:sp>
      <p:sp>
        <p:nvSpPr>
          <p:cNvPr id="228" name="Google Shape;228;p9"/>
          <p:cNvSpPr/>
          <p:nvPr/>
        </p:nvSpPr>
        <p:spPr>
          <a:xfrm>
            <a:off x="6591300" y="2628900"/>
            <a:ext cx="158376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Products</a:t>
            </a:r>
            <a:endParaRPr sz="1200" b="0" i="0" u="none" strike="noStrike" cap="none">
              <a:solidFill>
                <a:schemeClr val="dk1"/>
              </a:solidFill>
              <a:latin typeface="Calibri"/>
              <a:ea typeface="Calibri"/>
              <a:cs typeface="Calibri"/>
              <a:sym typeface="Calibri"/>
            </a:endParaRPr>
          </a:p>
        </p:txBody>
      </p:sp>
      <p:sp>
        <p:nvSpPr>
          <p:cNvPr id="229" name="Google Shape;229;p9"/>
          <p:cNvSpPr/>
          <p:nvPr/>
        </p:nvSpPr>
        <p:spPr>
          <a:xfrm>
            <a:off x="7911108" y="2628900"/>
            <a:ext cx="1752183"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product_id</a:t>
            </a:r>
            <a:endParaRPr sz="1200" b="0" i="0" u="none" strike="noStrike" cap="none">
              <a:solidFill>
                <a:schemeClr val="dk1"/>
              </a:solidFill>
              <a:latin typeface="Calibri"/>
              <a:ea typeface="Calibri"/>
              <a:cs typeface="Calibri"/>
              <a:sym typeface="Calibri"/>
            </a:endParaRPr>
          </a:p>
        </p:txBody>
      </p:sp>
      <p:sp>
        <p:nvSpPr>
          <p:cNvPr id="230" name="Google Shape;230;p9"/>
          <p:cNvSpPr/>
          <p:nvPr/>
        </p:nvSpPr>
        <p:spPr>
          <a:xfrm>
            <a:off x="9371261" y="2628900"/>
            <a:ext cx="240163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supplier_id</a:t>
            </a:r>
            <a:endParaRPr sz="1200" b="0" i="0" u="none" strike="noStrike" cap="none">
              <a:solidFill>
                <a:schemeClr val="dk1"/>
              </a:solidFill>
              <a:latin typeface="Calibri"/>
              <a:ea typeface="Calibri"/>
              <a:cs typeface="Calibri"/>
              <a:sym typeface="Calibri"/>
            </a:endParaRPr>
          </a:p>
        </p:txBody>
      </p:sp>
      <p:sp>
        <p:nvSpPr>
          <p:cNvPr id="231" name="Google Shape;231;p9"/>
          <p:cNvSpPr/>
          <p:nvPr/>
        </p:nvSpPr>
        <p:spPr>
          <a:xfrm>
            <a:off x="6591300" y="3009900"/>
            <a:ext cx="158376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Suppliers</a:t>
            </a:r>
            <a:endParaRPr sz="1200" b="0" i="0" u="none" strike="noStrike" cap="none">
              <a:solidFill>
                <a:schemeClr val="dk1"/>
              </a:solidFill>
              <a:latin typeface="Calibri"/>
              <a:ea typeface="Calibri"/>
              <a:cs typeface="Calibri"/>
              <a:sym typeface="Calibri"/>
            </a:endParaRPr>
          </a:p>
        </p:txBody>
      </p:sp>
      <p:sp>
        <p:nvSpPr>
          <p:cNvPr id="232" name="Google Shape;232;p9"/>
          <p:cNvSpPr/>
          <p:nvPr/>
        </p:nvSpPr>
        <p:spPr>
          <a:xfrm>
            <a:off x="7911108" y="3009900"/>
            <a:ext cx="1752183"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supplier_id</a:t>
            </a:r>
            <a:endParaRPr sz="1200" b="0" i="0" u="none" strike="noStrike" cap="none">
              <a:solidFill>
                <a:schemeClr val="dk1"/>
              </a:solidFill>
              <a:latin typeface="Calibri"/>
              <a:ea typeface="Calibri"/>
              <a:cs typeface="Calibri"/>
              <a:sym typeface="Calibri"/>
            </a:endParaRPr>
          </a:p>
        </p:txBody>
      </p:sp>
      <p:sp>
        <p:nvSpPr>
          <p:cNvPr id="233" name="Google Shape;233;p9"/>
          <p:cNvSpPr/>
          <p:nvPr/>
        </p:nvSpPr>
        <p:spPr>
          <a:xfrm>
            <a:off x="9371261" y="3009900"/>
            <a:ext cx="240163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location_id</a:t>
            </a:r>
            <a:endParaRPr sz="1200" b="0" i="0" u="none" strike="noStrike" cap="none">
              <a:solidFill>
                <a:schemeClr val="dk1"/>
              </a:solidFill>
              <a:latin typeface="Calibri"/>
              <a:ea typeface="Calibri"/>
              <a:cs typeface="Calibri"/>
              <a:sym typeface="Calibri"/>
            </a:endParaRPr>
          </a:p>
        </p:txBody>
      </p:sp>
      <p:sp>
        <p:nvSpPr>
          <p:cNvPr id="234" name="Google Shape;234;p9"/>
          <p:cNvSpPr/>
          <p:nvPr/>
        </p:nvSpPr>
        <p:spPr>
          <a:xfrm>
            <a:off x="6591300" y="3390900"/>
            <a:ext cx="1583769"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Shipments</a:t>
            </a:r>
            <a:endParaRPr sz="1200" b="0" i="0" u="none" strike="noStrike" cap="none">
              <a:solidFill>
                <a:schemeClr val="dk1"/>
              </a:solidFill>
              <a:latin typeface="Calibri"/>
              <a:ea typeface="Calibri"/>
              <a:cs typeface="Calibri"/>
              <a:sym typeface="Calibri"/>
            </a:endParaRPr>
          </a:p>
        </p:txBody>
      </p:sp>
      <p:sp>
        <p:nvSpPr>
          <p:cNvPr id="235" name="Google Shape;235;p9"/>
          <p:cNvSpPr/>
          <p:nvPr/>
        </p:nvSpPr>
        <p:spPr>
          <a:xfrm>
            <a:off x="7911108" y="3390900"/>
            <a:ext cx="1752183"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shipment_id</a:t>
            </a:r>
            <a:endParaRPr sz="1200" b="0" i="0" u="none" strike="noStrike" cap="none">
              <a:solidFill>
                <a:schemeClr val="dk1"/>
              </a:solidFill>
              <a:latin typeface="Calibri"/>
              <a:ea typeface="Calibri"/>
              <a:cs typeface="Calibri"/>
              <a:sym typeface="Calibri"/>
            </a:endParaRPr>
          </a:p>
        </p:txBody>
      </p:sp>
      <p:sp>
        <p:nvSpPr>
          <p:cNvPr id="236" name="Google Shape;236;p9"/>
          <p:cNvSpPr/>
          <p:nvPr/>
        </p:nvSpPr>
        <p:spPr>
          <a:xfrm>
            <a:off x="9371261" y="3390900"/>
            <a:ext cx="2881967" cy="3810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product_id, supplier_id</a:t>
            </a:r>
            <a:endParaRPr sz="1200" b="0" i="0" u="none" strike="noStrike" cap="none">
              <a:solidFill>
                <a:schemeClr val="dk1"/>
              </a:solidFill>
              <a:latin typeface="Calibri"/>
              <a:ea typeface="Calibri"/>
              <a:cs typeface="Calibri"/>
              <a:sym typeface="Calibri"/>
            </a:endParaRPr>
          </a:p>
        </p:txBody>
      </p:sp>
      <p:sp>
        <p:nvSpPr>
          <p:cNvPr id="237" name="Google Shape;237;p9"/>
          <p:cNvSpPr/>
          <p:nvPr/>
        </p:nvSpPr>
        <p:spPr>
          <a:xfrm>
            <a:off x="6667500" y="4343400"/>
            <a:ext cx="288036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0" i="0" u="none" strike="noStrike" cap="none">
                <a:solidFill>
                  <a:srgbClr val="1D4ED8"/>
                </a:solidFill>
                <a:latin typeface="Arial"/>
                <a:ea typeface="Arial"/>
                <a:cs typeface="Arial"/>
                <a:sym typeface="Arial"/>
              </a:rPr>
              <a:t>Constraints</a:t>
            </a:r>
            <a:endParaRPr sz="1500" b="0" i="0" u="none" strike="noStrike" cap="none">
              <a:solidFill>
                <a:schemeClr val="dk1"/>
              </a:solidFill>
              <a:latin typeface="Calibri"/>
              <a:ea typeface="Calibri"/>
              <a:cs typeface="Calibri"/>
              <a:sym typeface="Calibri"/>
            </a:endParaRPr>
          </a:p>
        </p:txBody>
      </p:sp>
      <p:sp>
        <p:nvSpPr>
          <p:cNvPr id="238" name="Google Shape;238;p9"/>
          <p:cNvSpPr/>
          <p:nvPr/>
        </p:nvSpPr>
        <p:spPr>
          <a:xfrm>
            <a:off x="6400800" y="4686300"/>
            <a:ext cx="2880360"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NOT NULL, UNIQUE, CHECK</a:t>
            </a:r>
            <a:endParaRPr sz="1200" b="0" i="0" u="none" strike="noStrike" cap="none">
              <a:solidFill>
                <a:schemeClr val="dk1"/>
              </a:solidFill>
              <a:latin typeface="Calibri"/>
              <a:ea typeface="Calibri"/>
              <a:cs typeface="Calibri"/>
              <a:sym typeface="Calibri"/>
            </a:endParaRPr>
          </a:p>
        </p:txBody>
      </p:sp>
      <p:sp>
        <p:nvSpPr>
          <p:cNvPr id="239" name="Google Shape;239;p9"/>
          <p:cNvSpPr/>
          <p:nvPr/>
        </p:nvSpPr>
        <p:spPr>
          <a:xfrm>
            <a:off x="9505950" y="4343400"/>
            <a:ext cx="24003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0" i="0" u="none" strike="noStrike" cap="none">
                <a:solidFill>
                  <a:srgbClr val="1D4ED8"/>
                </a:solidFill>
                <a:latin typeface="Arial"/>
                <a:ea typeface="Arial"/>
                <a:cs typeface="Arial"/>
                <a:sym typeface="Arial"/>
              </a:rPr>
              <a:t>Triggers</a:t>
            </a:r>
            <a:endParaRPr sz="1500" b="0" i="0" u="none" strike="noStrike" cap="none">
              <a:solidFill>
                <a:schemeClr val="dk1"/>
              </a:solidFill>
              <a:latin typeface="Calibri"/>
              <a:ea typeface="Calibri"/>
              <a:cs typeface="Calibri"/>
              <a:sym typeface="Calibri"/>
            </a:endParaRPr>
          </a:p>
        </p:txBody>
      </p:sp>
      <p:sp>
        <p:nvSpPr>
          <p:cNvPr id="240" name="Google Shape;240;p9"/>
          <p:cNvSpPr/>
          <p:nvPr/>
        </p:nvSpPr>
        <p:spPr>
          <a:xfrm>
            <a:off x="9258300" y="4686300"/>
            <a:ext cx="2880360"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74151"/>
              </a:buClr>
              <a:buSzPts val="1200"/>
              <a:buFont typeface="Arial"/>
              <a:buNone/>
            </a:pPr>
            <a:r>
              <a:rPr lang="en-US" sz="1200" b="0" i="0" u="none" strike="noStrike" cap="none">
                <a:solidFill>
                  <a:srgbClr val="374151"/>
                </a:solidFill>
                <a:latin typeface="Arial"/>
                <a:ea typeface="Arial"/>
                <a:cs typeface="Arial"/>
                <a:sym typeface="Arial"/>
              </a:rPr>
              <a:t>Automated integrity checks</a:t>
            </a:r>
            <a:endParaRPr sz="1200" b="0" i="0" u="none" strike="noStrike" cap="none">
              <a:solidFill>
                <a:schemeClr val="dk1"/>
              </a:solidFill>
              <a:latin typeface="Calibri"/>
              <a:ea typeface="Calibri"/>
              <a:cs typeface="Calibri"/>
              <a:sym typeface="Calibri"/>
            </a:endParaRPr>
          </a:p>
        </p:txBody>
      </p:sp>
      <p:sp>
        <p:nvSpPr>
          <p:cNvPr id="241" name="Google Shape;241;p9"/>
          <p:cNvSpPr/>
          <p:nvPr/>
        </p:nvSpPr>
        <p:spPr>
          <a:xfrm>
            <a:off x="381000" y="5600700"/>
            <a:ext cx="1829157"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Team Members:</a:t>
            </a:r>
            <a:endParaRPr sz="1350" b="0" i="0" u="none" strike="noStrike" cap="none">
              <a:solidFill>
                <a:schemeClr val="dk1"/>
              </a:solidFill>
              <a:latin typeface="Calibri"/>
              <a:ea typeface="Calibri"/>
              <a:cs typeface="Calibri"/>
              <a:sym typeface="Calibri"/>
            </a:endParaRPr>
          </a:p>
        </p:txBody>
      </p:sp>
      <p:sp>
        <p:nvSpPr>
          <p:cNvPr id="242" name="Google Shape;242;p9"/>
          <p:cNvSpPr/>
          <p:nvPr/>
        </p:nvSpPr>
        <p:spPr>
          <a:xfrm>
            <a:off x="2057698" y="5600700"/>
            <a:ext cx="321933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4B5563"/>
              </a:buClr>
              <a:buSzPts val="1350"/>
              <a:buFont typeface="Arial"/>
              <a:buNone/>
            </a:pPr>
            <a:r>
              <a:rPr lang="en-US" sz="1350" b="0" i="0" u="none" strike="noStrike" cap="none">
                <a:solidFill>
                  <a:srgbClr val="4B5563"/>
                </a:solidFill>
                <a:latin typeface="Arial"/>
                <a:ea typeface="Arial"/>
                <a:cs typeface="Arial"/>
                <a:sym typeface="Arial"/>
              </a:rPr>
              <a:t>Prerana, Harini, Riyanshi, Hardi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10" descr="preencoded.png"/>
          <p:cNvPicPr preferRelativeResize="0"/>
          <p:nvPr/>
        </p:nvPicPr>
        <p:blipFill rotWithShape="1">
          <a:blip r:embed="rId3">
            <a:alphaModFix/>
          </a:blip>
          <a:srcRect/>
          <a:stretch/>
        </p:blipFill>
        <p:spPr>
          <a:xfrm>
            <a:off x="0" y="0"/>
            <a:ext cx="12192000" cy="762000"/>
          </a:xfrm>
          <a:prstGeom prst="rect">
            <a:avLst/>
          </a:prstGeom>
          <a:noFill/>
          <a:ln>
            <a:noFill/>
          </a:ln>
        </p:spPr>
      </p:pic>
      <p:sp>
        <p:nvSpPr>
          <p:cNvPr id="249" name="Google Shape;249;p10"/>
          <p:cNvSpPr/>
          <p:nvPr/>
        </p:nvSpPr>
        <p:spPr>
          <a:xfrm>
            <a:off x="381000" y="209550"/>
            <a:ext cx="5092244"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a:solidFill>
                  <a:srgbClr val="FFFFFF"/>
                </a:solidFill>
              </a:rPr>
              <a:t>Triggers and Encryption</a:t>
            </a:r>
            <a:endParaRPr sz="2250" b="1">
              <a:solidFill>
                <a:srgbClr val="FFFFFF"/>
              </a:solidFill>
            </a:endParaRPr>
          </a:p>
          <a:p>
            <a:pPr marL="0" marR="0" lvl="0" indent="0" algn="l" rtl="0">
              <a:lnSpc>
                <a:spcPct val="120000"/>
              </a:lnSpc>
              <a:spcBef>
                <a:spcPts val="0"/>
              </a:spcBef>
              <a:spcAft>
                <a:spcPts val="0"/>
              </a:spcAft>
              <a:buClr>
                <a:srgbClr val="FFFFFF"/>
              </a:buClr>
              <a:buSzPts val="2250"/>
              <a:buFont typeface="Arial"/>
              <a:buNone/>
            </a:pPr>
            <a:endParaRPr sz="2250" b="1">
              <a:solidFill>
                <a:srgbClr val="FFFFFF"/>
              </a:solidFill>
            </a:endParaRPr>
          </a:p>
        </p:txBody>
      </p:sp>
      <p:sp>
        <p:nvSpPr>
          <p:cNvPr id="250" name="Google Shape;250;p10"/>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pic>
        <p:nvPicPr>
          <p:cNvPr id="251" name="Google Shape;251;p10" title="Screenshot 2025-12-01 at 12.32.49 PM.png"/>
          <p:cNvPicPr preferRelativeResize="0"/>
          <p:nvPr/>
        </p:nvPicPr>
        <p:blipFill>
          <a:blip r:embed="rId4">
            <a:alphaModFix/>
          </a:blip>
          <a:stretch>
            <a:fillRect/>
          </a:stretch>
        </p:blipFill>
        <p:spPr>
          <a:xfrm>
            <a:off x="6929800" y="762000"/>
            <a:ext cx="5092249" cy="5791201"/>
          </a:xfrm>
          <a:prstGeom prst="rect">
            <a:avLst/>
          </a:prstGeom>
          <a:noFill/>
          <a:ln>
            <a:noFill/>
          </a:ln>
        </p:spPr>
      </p:pic>
      <p:pic>
        <p:nvPicPr>
          <p:cNvPr id="252" name="Google Shape;252;p10" title="Screenshot 2025-12-01 at 12.33.23 PM.png"/>
          <p:cNvPicPr preferRelativeResize="0"/>
          <p:nvPr/>
        </p:nvPicPr>
        <p:blipFill>
          <a:blip r:embed="rId5">
            <a:alphaModFix/>
          </a:blip>
          <a:stretch>
            <a:fillRect/>
          </a:stretch>
        </p:blipFill>
        <p:spPr>
          <a:xfrm>
            <a:off x="152400" y="914400"/>
            <a:ext cx="6624999" cy="5638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11"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9" name="Google Shape;259;p11"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260" name="Google Shape;260;p11"/>
          <p:cNvSpPr/>
          <p:nvPr/>
        </p:nvSpPr>
        <p:spPr>
          <a:xfrm>
            <a:off x="381000" y="209550"/>
            <a:ext cx="56032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Data Insights &amp; Visualization</a:t>
            </a:r>
            <a:endParaRPr sz="2250" b="0" i="0" u="none" strike="noStrike" cap="none">
              <a:solidFill>
                <a:schemeClr val="dk1"/>
              </a:solidFill>
              <a:latin typeface="Calibri"/>
              <a:ea typeface="Calibri"/>
              <a:cs typeface="Calibri"/>
              <a:sym typeface="Calibri"/>
            </a:endParaRPr>
          </a:p>
        </p:txBody>
      </p:sp>
      <p:sp>
        <p:nvSpPr>
          <p:cNvPr id="261" name="Google Shape;261;p11"/>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262" name="Google Shape;262;p11"/>
          <p:cNvSpPr txBox="1"/>
          <p:nvPr/>
        </p:nvSpPr>
        <p:spPr>
          <a:xfrm>
            <a:off x="97475" y="875600"/>
            <a:ext cx="4747500" cy="619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600" b="1">
                <a:solidFill>
                  <a:schemeClr val="dk1"/>
                </a:solidFill>
              </a:rPr>
              <a:t>Dashboard Key Features:</a:t>
            </a:r>
            <a:endParaRPr sz="16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n-US" sz="1600">
                <a:solidFill>
                  <a:schemeClr val="dk1"/>
                </a:solidFill>
              </a:rPr>
              <a:t>Monthly Trend Analysis: Order volume and revenue by month</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Payment Terms Distribution: Net 30/45/60/90 breakdown</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Geographic Supplier Map: Global supplier distribution visualization</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Order Status Pipeline: Real-time processing status</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Material Cost Analysis: Unit price tracking</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Interactive Filtering: Drill-down capabilities</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600" b="1">
                <a:solidFill>
                  <a:schemeClr val="dk1"/>
                </a:solidFill>
              </a:rPr>
              <a:t>Key Business Insights:</a:t>
            </a:r>
            <a:endParaRPr sz="16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n-US" sz="1600">
                <a:solidFill>
                  <a:schemeClr val="dk1"/>
                </a:solidFill>
              </a:rPr>
              <a:t>33.33% pending orders need attention for workflow optimization</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Global supplier diversification across continents reduces risk</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Real-time live data integration from SQL database</a:t>
            </a:r>
            <a:endParaRPr sz="1600">
              <a:solidFill>
                <a:schemeClr val="dk1"/>
              </a:solidFill>
            </a:endParaRPr>
          </a:p>
          <a:p>
            <a:pPr marL="0" lvl="0" indent="0" algn="l" rtl="0">
              <a:spcBef>
                <a:spcPts val="1200"/>
              </a:spcBef>
              <a:spcAft>
                <a:spcPts val="0"/>
              </a:spcAft>
              <a:buNone/>
            </a:pPr>
            <a:endParaRPr sz="1900"/>
          </a:p>
        </p:txBody>
      </p:sp>
      <p:pic>
        <p:nvPicPr>
          <p:cNvPr id="263" name="Google Shape;263;p11" title="Screenshot 2025-12-01 at 12.39.11 PM.png"/>
          <p:cNvPicPr preferRelativeResize="0"/>
          <p:nvPr/>
        </p:nvPicPr>
        <p:blipFill rotWithShape="1">
          <a:blip r:embed="rId5">
            <a:alphaModFix/>
          </a:blip>
          <a:srcRect r="5962"/>
          <a:stretch/>
        </p:blipFill>
        <p:spPr>
          <a:xfrm>
            <a:off x="4844975" y="875600"/>
            <a:ext cx="7151174" cy="592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12"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0" name="Google Shape;270;p12" descr="preencoded.png"/>
          <p:cNvPicPr preferRelativeResize="0"/>
          <p:nvPr/>
        </p:nvPicPr>
        <p:blipFill rotWithShape="1">
          <a:blip r:embed="rId4">
            <a:alphaModFix/>
          </a:blip>
          <a:srcRect/>
          <a:stretch/>
        </p:blipFill>
        <p:spPr>
          <a:xfrm>
            <a:off x="0" y="0"/>
            <a:ext cx="12192002" cy="762000"/>
          </a:xfrm>
          <a:prstGeom prst="rect">
            <a:avLst/>
          </a:prstGeom>
          <a:noFill/>
          <a:ln>
            <a:noFill/>
          </a:ln>
        </p:spPr>
      </p:pic>
      <p:sp>
        <p:nvSpPr>
          <p:cNvPr id="271" name="Google Shape;271;p12"/>
          <p:cNvSpPr/>
          <p:nvPr/>
        </p:nvSpPr>
        <p:spPr>
          <a:xfrm>
            <a:off x="381000" y="209550"/>
            <a:ext cx="56031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a:solidFill>
                  <a:srgbClr val="FFFFFF"/>
                </a:solidFill>
              </a:rPr>
              <a:t>GUI </a:t>
            </a:r>
            <a:endParaRPr sz="2250" b="0" i="0" u="none" strike="noStrike" cap="none">
              <a:solidFill>
                <a:schemeClr val="dk1"/>
              </a:solidFill>
              <a:latin typeface="Calibri"/>
              <a:ea typeface="Calibri"/>
              <a:cs typeface="Calibri"/>
              <a:sym typeface="Calibri"/>
            </a:endParaRPr>
          </a:p>
        </p:txBody>
      </p:sp>
      <p:sp>
        <p:nvSpPr>
          <p:cNvPr id="272" name="Google Shape;272;p12"/>
          <p:cNvSpPr/>
          <p:nvPr/>
        </p:nvSpPr>
        <p:spPr>
          <a:xfrm>
            <a:off x="7091065" y="247650"/>
            <a:ext cx="5664000"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pic>
        <p:nvPicPr>
          <p:cNvPr id="273" name="Google Shape;273;p12"/>
          <p:cNvPicPr preferRelativeResize="0"/>
          <p:nvPr/>
        </p:nvPicPr>
        <p:blipFill rotWithShape="1">
          <a:blip r:embed="rId5">
            <a:alphaModFix/>
          </a:blip>
          <a:srcRect t="13226"/>
          <a:stretch>
            <a:fillRect/>
          </a:stretch>
        </p:blipFill>
        <p:spPr>
          <a:xfrm>
            <a:off x="161775" y="1112704"/>
            <a:ext cx="11868452" cy="54126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79" name="Google Shape;279;p13"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0" name="Google Shape;280;p13"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281" name="Google Shape;281;p13" descr="preencoded.png"/>
          <p:cNvPicPr preferRelativeResize="0"/>
          <p:nvPr/>
        </p:nvPicPr>
        <p:blipFill rotWithShape="1">
          <a:blip r:embed="rId5">
            <a:alphaModFix/>
          </a:blip>
          <a:srcRect/>
          <a:stretch/>
        </p:blipFill>
        <p:spPr>
          <a:xfrm>
            <a:off x="381000" y="1714500"/>
            <a:ext cx="2743200" cy="1562100"/>
          </a:xfrm>
          <a:prstGeom prst="rect">
            <a:avLst/>
          </a:prstGeom>
          <a:noFill/>
          <a:ln>
            <a:noFill/>
          </a:ln>
        </p:spPr>
      </p:pic>
      <p:pic>
        <p:nvPicPr>
          <p:cNvPr id="282" name="Google Shape;282;p13" descr="preencoded.png"/>
          <p:cNvPicPr preferRelativeResize="0"/>
          <p:nvPr/>
        </p:nvPicPr>
        <p:blipFill rotWithShape="1">
          <a:blip r:embed="rId6">
            <a:alphaModFix/>
          </a:blip>
          <a:srcRect/>
          <a:stretch/>
        </p:blipFill>
        <p:spPr>
          <a:xfrm>
            <a:off x="1371600" y="1866900"/>
            <a:ext cx="762000" cy="762000"/>
          </a:xfrm>
          <a:prstGeom prst="rect">
            <a:avLst/>
          </a:prstGeom>
          <a:noFill/>
          <a:ln>
            <a:noFill/>
          </a:ln>
        </p:spPr>
      </p:pic>
      <p:pic>
        <p:nvPicPr>
          <p:cNvPr id="283" name="Google Shape;283;p13" descr="preencoded.png"/>
          <p:cNvPicPr preferRelativeResize="0"/>
          <p:nvPr/>
        </p:nvPicPr>
        <p:blipFill rotWithShape="1">
          <a:blip r:embed="rId7">
            <a:alphaModFix/>
          </a:blip>
          <a:srcRect/>
          <a:stretch/>
        </p:blipFill>
        <p:spPr>
          <a:xfrm>
            <a:off x="1600200" y="2057400"/>
            <a:ext cx="304800" cy="381000"/>
          </a:xfrm>
          <a:prstGeom prst="rect">
            <a:avLst/>
          </a:prstGeom>
          <a:noFill/>
          <a:ln>
            <a:noFill/>
          </a:ln>
        </p:spPr>
      </p:pic>
      <p:pic>
        <p:nvPicPr>
          <p:cNvPr id="284" name="Google Shape;284;p13" descr="preencoded.png"/>
          <p:cNvPicPr preferRelativeResize="0"/>
          <p:nvPr/>
        </p:nvPicPr>
        <p:blipFill rotWithShape="1">
          <a:blip r:embed="rId8">
            <a:alphaModFix/>
          </a:blip>
          <a:srcRect/>
          <a:stretch/>
        </p:blipFill>
        <p:spPr>
          <a:xfrm>
            <a:off x="3267075" y="2476500"/>
            <a:ext cx="1314450" cy="38100"/>
          </a:xfrm>
          <a:prstGeom prst="rect">
            <a:avLst/>
          </a:prstGeom>
          <a:noFill/>
          <a:ln>
            <a:noFill/>
          </a:ln>
        </p:spPr>
      </p:pic>
      <p:pic>
        <p:nvPicPr>
          <p:cNvPr id="285" name="Google Shape;285;p13" descr="preencoded.png"/>
          <p:cNvPicPr preferRelativeResize="0"/>
          <p:nvPr/>
        </p:nvPicPr>
        <p:blipFill rotWithShape="1">
          <a:blip r:embed="rId5">
            <a:alphaModFix/>
          </a:blip>
          <a:srcRect/>
          <a:stretch/>
        </p:blipFill>
        <p:spPr>
          <a:xfrm>
            <a:off x="4724400" y="1714500"/>
            <a:ext cx="2743200" cy="1562100"/>
          </a:xfrm>
          <a:prstGeom prst="rect">
            <a:avLst/>
          </a:prstGeom>
          <a:noFill/>
          <a:ln>
            <a:noFill/>
          </a:ln>
        </p:spPr>
      </p:pic>
      <p:pic>
        <p:nvPicPr>
          <p:cNvPr id="286" name="Google Shape;286;p13" descr="preencoded.png"/>
          <p:cNvPicPr preferRelativeResize="0"/>
          <p:nvPr/>
        </p:nvPicPr>
        <p:blipFill rotWithShape="1">
          <a:blip r:embed="rId9">
            <a:alphaModFix/>
          </a:blip>
          <a:srcRect/>
          <a:stretch/>
        </p:blipFill>
        <p:spPr>
          <a:xfrm>
            <a:off x="5715000" y="1866900"/>
            <a:ext cx="762000" cy="762000"/>
          </a:xfrm>
          <a:prstGeom prst="rect">
            <a:avLst/>
          </a:prstGeom>
          <a:noFill/>
          <a:ln>
            <a:noFill/>
          </a:ln>
        </p:spPr>
      </p:pic>
      <p:pic>
        <p:nvPicPr>
          <p:cNvPr id="287" name="Google Shape;287;p13" descr="preencoded.png"/>
          <p:cNvPicPr preferRelativeResize="0"/>
          <p:nvPr/>
        </p:nvPicPr>
        <p:blipFill rotWithShape="1">
          <a:blip r:embed="rId10">
            <a:alphaModFix/>
          </a:blip>
          <a:srcRect/>
          <a:stretch/>
        </p:blipFill>
        <p:spPr>
          <a:xfrm>
            <a:off x="5900738" y="2057400"/>
            <a:ext cx="390525" cy="381000"/>
          </a:xfrm>
          <a:prstGeom prst="rect">
            <a:avLst/>
          </a:prstGeom>
          <a:noFill/>
          <a:ln>
            <a:noFill/>
          </a:ln>
        </p:spPr>
      </p:pic>
      <p:pic>
        <p:nvPicPr>
          <p:cNvPr id="288" name="Google Shape;288;p13" descr="preencoded.png"/>
          <p:cNvPicPr preferRelativeResize="0"/>
          <p:nvPr/>
        </p:nvPicPr>
        <p:blipFill rotWithShape="1">
          <a:blip r:embed="rId8">
            <a:alphaModFix/>
          </a:blip>
          <a:srcRect/>
          <a:stretch/>
        </p:blipFill>
        <p:spPr>
          <a:xfrm>
            <a:off x="7610475" y="2476500"/>
            <a:ext cx="1314450" cy="38100"/>
          </a:xfrm>
          <a:prstGeom prst="rect">
            <a:avLst/>
          </a:prstGeom>
          <a:noFill/>
          <a:ln>
            <a:noFill/>
          </a:ln>
        </p:spPr>
      </p:pic>
      <p:pic>
        <p:nvPicPr>
          <p:cNvPr id="289" name="Google Shape;289;p13" descr="preencoded.png"/>
          <p:cNvPicPr preferRelativeResize="0"/>
          <p:nvPr/>
        </p:nvPicPr>
        <p:blipFill rotWithShape="1">
          <a:blip r:embed="rId5">
            <a:alphaModFix/>
          </a:blip>
          <a:srcRect/>
          <a:stretch/>
        </p:blipFill>
        <p:spPr>
          <a:xfrm>
            <a:off x="9067800" y="1714500"/>
            <a:ext cx="2743200" cy="1562100"/>
          </a:xfrm>
          <a:prstGeom prst="rect">
            <a:avLst/>
          </a:prstGeom>
          <a:noFill/>
          <a:ln>
            <a:noFill/>
          </a:ln>
        </p:spPr>
      </p:pic>
      <p:pic>
        <p:nvPicPr>
          <p:cNvPr id="290" name="Google Shape;290;p13" descr="preencoded.png"/>
          <p:cNvPicPr preferRelativeResize="0"/>
          <p:nvPr/>
        </p:nvPicPr>
        <p:blipFill rotWithShape="1">
          <a:blip r:embed="rId11">
            <a:alphaModFix/>
          </a:blip>
          <a:srcRect/>
          <a:stretch/>
        </p:blipFill>
        <p:spPr>
          <a:xfrm>
            <a:off x="10058400" y="1866900"/>
            <a:ext cx="762000" cy="762000"/>
          </a:xfrm>
          <a:prstGeom prst="rect">
            <a:avLst/>
          </a:prstGeom>
          <a:noFill/>
          <a:ln>
            <a:noFill/>
          </a:ln>
        </p:spPr>
      </p:pic>
      <p:pic>
        <p:nvPicPr>
          <p:cNvPr id="291" name="Google Shape;291;p13" descr="preencoded.png"/>
          <p:cNvPicPr preferRelativeResize="0"/>
          <p:nvPr/>
        </p:nvPicPr>
        <p:blipFill rotWithShape="1">
          <a:blip r:embed="rId12">
            <a:alphaModFix/>
          </a:blip>
          <a:srcRect/>
          <a:stretch/>
        </p:blipFill>
        <p:spPr>
          <a:xfrm>
            <a:off x="10267950" y="2057400"/>
            <a:ext cx="342900" cy="381000"/>
          </a:xfrm>
          <a:prstGeom prst="rect">
            <a:avLst/>
          </a:prstGeom>
          <a:noFill/>
          <a:ln>
            <a:noFill/>
          </a:ln>
        </p:spPr>
      </p:pic>
      <p:pic>
        <p:nvPicPr>
          <p:cNvPr id="292" name="Google Shape;292;p13" descr="preencoded.png"/>
          <p:cNvPicPr preferRelativeResize="0"/>
          <p:nvPr/>
        </p:nvPicPr>
        <p:blipFill rotWithShape="1">
          <a:blip r:embed="rId13">
            <a:alphaModFix/>
          </a:blip>
          <a:srcRect/>
          <a:stretch/>
        </p:blipFill>
        <p:spPr>
          <a:xfrm>
            <a:off x="381000" y="3657600"/>
            <a:ext cx="3606701" cy="1981200"/>
          </a:xfrm>
          <a:prstGeom prst="rect">
            <a:avLst/>
          </a:prstGeom>
          <a:noFill/>
          <a:ln>
            <a:noFill/>
          </a:ln>
        </p:spPr>
      </p:pic>
      <p:pic>
        <p:nvPicPr>
          <p:cNvPr id="293" name="Google Shape;293;p13" descr="preencoded.png"/>
          <p:cNvPicPr preferRelativeResize="0"/>
          <p:nvPr/>
        </p:nvPicPr>
        <p:blipFill rotWithShape="1">
          <a:blip r:embed="rId14">
            <a:alphaModFix/>
          </a:blip>
          <a:srcRect/>
          <a:stretch/>
        </p:blipFill>
        <p:spPr>
          <a:xfrm>
            <a:off x="609600" y="3933825"/>
            <a:ext cx="152400" cy="171450"/>
          </a:xfrm>
          <a:prstGeom prst="rect">
            <a:avLst/>
          </a:prstGeom>
          <a:noFill/>
          <a:ln>
            <a:noFill/>
          </a:ln>
        </p:spPr>
      </p:pic>
      <p:pic>
        <p:nvPicPr>
          <p:cNvPr id="294" name="Google Shape;294;p13" descr="preencoded.png"/>
          <p:cNvPicPr preferRelativeResize="0"/>
          <p:nvPr/>
        </p:nvPicPr>
        <p:blipFill rotWithShape="1">
          <a:blip r:embed="rId15">
            <a:alphaModFix/>
          </a:blip>
          <a:srcRect/>
          <a:stretch/>
        </p:blipFill>
        <p:spPr>
          <a:xfrm>
            <a:off x="4292501" y="3657600"/>
            <a:ext cx="3606850" cy="1981200"/>
          </a:xfrm>
          <a:prstGeom prst="rect">
            <a:avLst/>
          </a:prstGeom>
          <a:noFill/>
          <a:ln>
            <a:noFill/>
          </a:ln>
        </p:spPr>
      </p:pic>
      <p:pic>
        <p:nvPicPr>
          <p:cNvPr id="295" name="Google Shape;295;p13" descr="preencoded.png"/>
          <p:cNvPicPr preferRelativeResize="0"/>
          <p:nvPr/>
        </p:nvPicPr>
        <p:blipFill rotWithShape="1">
          <a:blip r:embed="rId16">
            <a:alphaModFix/>
          </a:blip>
          <a:srcRect/>
          <a:stretch/>
        </p:blipFill>
        <p:spPr>
          <a:xfrm>
            <a:off x="4521101" y="3933825"/>
            <a:ext cx="190500" cy="171450"/>
          </a:xfrm>
          <a:prstGeom prst="rect">
            <a:avLst/>
          </a:prstGeom>
          <a:noFill/>
          <a:ln>
            <a:noFill/>
          </a:ln>
        </p:spPr>
      </p:pic>
      <p:pic>
        <p:nvPicPr>
          <p:cNvPr id="296" name="Google Shape;296;p13" descr="preencoded.png"/>
          <p:cNvPicPr preferRelativeResize="0"/>
          <p:nvPr/>
        </p:nvPicPr>
        <p:blipFill rotWithShape="1">
          <a:blip r:embed="rId17">
            <a:alphaModFix/>
          </a:blip>
          <a:srcRect/>
          <a:stretch/>
        </p:blipFill>
        <p:spPr>
          <a:xfrm>
            <a:off x="8204150" y="3657600"/>
            <a:ext cx="3606701" cy="1981200"/>
          </a:xfrm>
          <a:prstGeom prst="rect">
            <a:avLst/>
          </a:prstGeom>
          <a:noFill/>
          <a:ln>
            <a:noFill/>
          </a:ln>
        </p:spPr>
      </p:pic>
      <p:pic>
        <p:nvPicPr>
          <p:cNvPr id="297" name="Google Shape;297;p13" descr="preencoded.png"/>
          <p:cNvPicPr preferRelativeResize="0"/>
          <p:nvPr/>
        </p:nvPicPr>
        <p:blipFill rotWithShape="1">
          <a:blip r:embed="rId18">
            <a:alphaModFix/>
          </a:blip>
          <a:srcRect/>
          <a:stretch/>
        </p:blipFill>
        <p:spPr>
          <a:xfrm>
            <a:off x="8432750" y="3933825"/>
            <a:ext cx="171450" cy="171450"/>
          </a:xfrm>
          <a:prstGeom prst="rect">
            <a:avLst/>
          </a:prstGeom>
          <a:noFill/>
          <a:ln>
            <a:noFill/>
          </a:ln>
        </p:spPr>
      </p:pic>
      <p:pic>
        <p:nvPicPr>
          <p:cNvPr id="298" name="Google Shape;298;p13" descr="preencoded.png"/>
          <p:cNvPicPr preferRelativeResize="0"/>
          <p:nvPr/>
        </p:nvPicPr>
        <p:blipFill rotWithShape="1">
          <a:blip r:embed="rId19">
            <a:alphaModFix/>
          </a:blip>
          <a:srcRect/>
          <a:stretch/>
        </p:blipFill>
        <p:spPr>
          <a:xfrm>
            <a:off x="0" y="6400800"/>
            <a:ext cx="12192000" cy="457200"/>
          </a:xfrm>
          <a:prstGeom prst="rect">
            <a:avLst/>
          </a:prstGeom>
          <a:noFill/>
          <a:ln>
            <a:noFill/>
          </a:ln>
        </p:spPr>
      </p:pic>
      <p:sp>
        <p:nvSpPr>
          <p:cNvPr id="299" name="Google Shape;299;p13"/>
          <p:cNvSpPr/>
          <p:nvPr/>
        </p:nvSpPr>
        <p:spPr>
          <a:xfrm>
            <a:off x="381000" y="209550"/>
            <a:ext cx="3718858"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Demo Walkthrough</a:t>
            </a:r>
            <a:endParaRPr sz="2250" b="0" i="0" u="none" strike="noStrike" cap="none">
              <a:solidFill>
                <a:schemeClr val="dk1"/>
              </a:solidFill>
              <a:latin typeface="Calibri"/>
              <a:ea typeface="Calibri"/>
              <a:cs typeface="Calibri"/>
              <a:sym typeface="Calibri"/>
            </a:endParaRPr>
          </a:p>
        </p:txBody>
      </p:sp>
      <p:sp>
        <p:nvSpPr>
          <p:cNvPr id="300" name="Google Shape;300;p13"/>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301" name="Google Shape;301;p13"/>
          <p:cNvSpPr/>
          <p:nvPr/>
        </p:nvSpPr>
        <p:spPr>
          <a:xfrm>
            <a:off x="381000" y="1143000"/>
            <a:ext cx="1371600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0" i="0" u="none" strike="noStrike" cap="none">
                <a:solidFill>
                  <a:srgbClr val="374151"/>
                </a:solidFill>
                <a:latin typeface="Arial"/>
                <a:ea typeface="Arial"/>
                <a:cs typeface="Arial"/>
                <a:sym typeface="Arial"/>
              </a:rPr>
              <a:t>A three-step demonstration of the database system workflow:</a:t>
            </a:r>
            <a:endParaRPr sz="1350" b="0" i="0" u="none" strike="noStrike" cap="none">
              <a:solidFill>
                <a:schemeClr val="dk1"/>
              </a:solidFill>
              <a:latin typeface="Calibri"/>
              <a:ea typeface="Calibri"/>
              <a:cs typeface="Calibri"/>
              <a:sym typeface="Calibri"/>
            </a:endParaRPr>
          </a:p>
        </p:txBody>
      </p:sp>
      <p:sp>
        <p:nvSpPr>
          <p:cNvPr id="302" name="Google Shape;302;p13"/>
          <p:cNvSpPr/>
          <p:nvPr/>
        </p:nvSpPr>
        <p:spPr>
          <a:xfrm>
            <a:off x="1013520" y="2781300"/>
            <a:ext cx="1773615"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1" i="0" u="none" strike="noStrike" cap="none">
                <a:solidFill>
                  <a:srgbClr val="1D4ED8"/>
                </a:solidFill>
                <a:latin typeface="Arial"/>
                <a:ea typeface="Arial"/>
                <a:cs typeface="Arial"/>
                <a:sym typeface="Arial"/>
              </a:rPr>
              <a:t>1. Insert Data</a:t>
            </a:r>
            <a:endParaRPr sz="1500" b="0" i="0" u="none" strike="noStrike" cap="none">
              <a:solidFill>
                <a:schemeClr val="dk1"/>
              </a:solidFill>
              <a:latin typeface="Calibri"/>
              <a:ea typeface="Calibri"/>
              <a:cs typeface="Calibri"/>
              <a:sym typeface="Calibri"/>
            </a:endParaRPr>
          </a:p>
        </p:txBody>
      </p:sp>
      <p:sp>
        <p:nvSpPr>
          <p:cNvPr id="303" name="Google Shape;303;p13"/>
          <p:cNvSpPr/>
          <p:nvPr/>
        </p:nvSpPr>
        <p:spPr>
          <a:xfrm>
            <a:off x="5179219" y="2781300"/>
            <a:ext cx="2200275"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74151"/>
              </a:buClr>
              <a:buSzPts val="1500"/>
              <a:buFont typeface="Arial"/>
              <a:buNone/>
            </a:pPr>
            <a:r>
              <a:rPr lang="en-US" sz="1500" b="1" i="0" u="none" strike="noStrike" cap="none">
                <a:solidFill>
                  <a:srgbClr val="374151"/>
                </a:solidFill>
                <a:latin typeface="Arial"/>
                <a:ea typeface="Arial"/>
                <a:cs typeface="Arial"/>
                <a:sym typeface="Arial"/>
              </a:rPr>
              <a:t>2. Execute Query</a:t>
            </a:r>
            <a:endParaRPr sz="1500" b="0" i="0" u="none" strike="noStrike" cap="none">
              <a:solidFill>
                <a:schemeClr val="dk1"/>
              </a:solidFill>
              <a:latin typeface="Calibri"/>
              <a:ea typeface="Calibri"/>
              <a:cs typeface="Calibri"/>
              <a:sym typeface="Calibri"/>
            </a:endParaRPr>
          </a:p>
        </p:txBody>
      </p:sp>
      <p:sp>
        <p:nvSpPr>
          <p:cNvPr id="304" name="Google Shape;304;p13"/>
          <p:cNvSpPr/>
          <p:nvPr/>
        </p:nvSpPr>
        <p:spPr>
          <a:xfrm>
            <a:off x="9824889" y="2781300"/>
            <a:ext cx="1474649"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D4ED8"/>
              </a:buClr>
              <a:buSzPts val="1500"/>
              <a:buFont typeface="Arial"/>
              <a:buNone/>
            </a:pPr>
            <a:r>
              <a:rPr lang="en-US" sz="1500" b="1" i="0" u="none" strike="noStrike" cap="none">
                <a:solidFill>
                  <a:srgbClr val="1D4ED8"/>
                </a:solidFill>
                <a:latin typeface="Arial"/>
                <a:ea typeface="Arial"/>
                <a:cs typeface="Arial"/>
                <a:sym typeface="Arial"/>
              </a:rPr>
              <a:t>3. Visualize</a:t>
            </a:r>
            <a:endParaRPr sz="1500" b="0" i="0" u="none" strike="noStrike" cap="none">
              <a:solidFill>
                <a:schemeClr val="dk1"/>
              </a:solidFill>
              <a:latin typeface="Calibri"/>
              <a:ea typeface="Calibri"/>
              <a:cs typeface="Calibri"/>
              <a:sym typeface="Calibri"/>
            </a:endParaRPr>
          </a:p>
        </p:txBody>
      </p:sp>
      <p:sp>
        <p:nvSpPr>
          <p:cNvPr id="305" name="Google Shape;305;p13"/>
          <p:cNvSpPr/>
          <p:nvPr/>
        </p:nvSpPr>
        <p:spPr>
          <a:xfrm>
            <a:off x="838200" y="3886200"/>
            <a:ext cx="314950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1D4ED8"/>
              </a:buClr>
              <a:buSzPts val="1350"/>
              <a:buFont typeface="Arial"/>
              <a:buNone/>
            </a:pPr>
            <a:r>
              <a:rPr lang="en-US" sz="1350" b="1" i="0" u="none" strike="noStrike" cap="none">
                <a:solidFill>
                  <a:srgbClr val="1D4ED8"/>
                </a:solidFill>
                <a:latin typeface="Arial"/>
                <a:ea typeface="Arial"/>
                <a:cs typeface="Arial"/>
                <a:sym typeface="Arial"/>
              </a:rPr>
              <a:t>Insert Data</a:t>
            </a:r>
            <a:endParaRPr sz="1350" b="0" i="0" u="none" strike="noStrike" cap="none">
              <a:solidFill>
                <a:schemeClr val="dk1"/>
              </a:solidFill>
              <a:latin typeface="Calibri"/>
              <a:ea typeface="Calibri"/>
              <a:cs typeface="Calibri"/>
              <a:sym typeface="Calibri"/>
            </a:endParaRPr>
          </a:p>
        </p:txBody>
      </p:sp>
      <p:sp>
        <p:nvSpPr>
          <p:cNvPr id="306" name="Google Shape;306;p13"/>
          <p:cNvSpPr/>
          <p:nvPr/>
        </p:nvSpPr>
        <p:spPr>
          <a:xfrm>
            <a:off x="647700" y="42672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Insert supplier information</a:t>
            </a:r>
            <a:endParaRPr sz="1200" b="0" i="0" u="none" strike="noStrike" cap="none">
              <a:solidFill>
                <a:schemeClr val="dk1"/>
              </a:solidFill>
              <a:latin typeface="Calibri"/>
              <a:ea typeface="Calibri"/>
              <a:cs typeface="Calibri"/>
              <a:sym typeface="Calibri"/>
            </a:endParaRPr>
          </a:p>
        </p:txBody>
      </p:sp>
      <p:sp>
        <p:nvSpPr>
          <p:cNvPr id="307" name="Google Shape;307;p13"/>
          <p:cNvSpPr/>
          <p:nvPr/>
        </p:nvSpPr>
        <p:spPr>
          <a:xfrm>
            <a:off x="647700" y="45720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Add product details</a:t>
            </a:r>
            <a:endParaRPr sz="1200" b="0" i="0" u="none" strike="noStrike" cap="none">
              <a:solidFill>
                <a:schemeClr val="dk1"/>
              </a:solidFill>
              <a:latin typeface="Calibri"/>
              <a:ea typeface="Calibri"/>
              <a:cs typeface="Calibri"/>
              <a:sym typeface="Calibri"/>
            </a:endParaRPr>
          </a:p>
        </p:txBody>
      </p:sp>
      <p:sp>
        <p:nvSpPr>
          <p:cNvPr id="308" name="Google Shape;308;p13"/>
          <p:cNvSpPr/>
          <p:nvPr/>
        </p:nvSpPr>
        <p:spPr>
          <a:xfrm>
            <a:off x="647700" y="48768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Log shipment data</a:t>
            </a:r>
            <a:endParaRPr sz="1200" b="0" i="0" u="none" strike="noStrike" cap="none">
              <a:solidFill>
                <a:schemeClr val="dk1"/>
              </a:solidFill>
              <a:latin typeface="Calibri"/>
              <a:ea typeface="Calibri"/>
              <a:cs typeface="Calibri"/>
              <a:sym typeface="Calibri"/>
            </a:endParaRPr>
          </a:p>
        </p:txBody>
      </p:sp>
      <p:sp>
        <p:nvSpPr>
          <p:cNvPr id="309" name="Google Shape;309;p13"/>
          <p:cNvSpPr/>
          <p:nvPr/>
        </p:nvSpPr>
        <p:spPr>
          <a:xfrm>
            <a:off x="647700" y="51816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Record transaction history</a:t>
            </a:r>
            <a:endParaRPr sz="1200" b="0" i="0" u="none" strike="noStrike" cap="none">
              <a:solidFill>
                <a:schemeClr val="dk1"/>
              </a:solidFill>
              <a:latin typeface="Calibri"/>
              <a:ea typeface="Calibri"/>
              <a:cs typeface="Calibri"/>
              <a:sym typeface="Calibri"/>
            </a:endParaRPr>
          </a:p>
        </p:txBody>
      </p:sp>
      <p:sp>
        <p:nvSpPr>
          <p:cNvPr id="310" name="Google Shape;310;p13"/>
          <p:cNvSpPr/>
          <p:nvPr/>
        </p:nvSpPr>
        <p:spPr>
          <a:xfrm>
            <a:off x="4787801" y="3886200"/>
            <a:ext cx="3149650"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Execute Query</a:t>
            </a:r>
            <a:endParaRPr sz="1350" b="0" i="0" u="none" strike="noStrike" cap="none">
              <a:solidFill>
                <a:schemeClr val="dk1"/>
              </a:solidFill>
              <a:latin typeface="Calibri"/>
              <a:ea typeface="Calibri"/>
              <a:cs typeface="Calibri"/>
              <a:sym typeface="Calibri"/>
            </a:endParaRPr>
          </a:p>
        </p:txBody>
      </p:sp>
      <p:sp>
        <p:nvSpPr>
          <p:cNvPr id="311" name="Google Shape;311;p13"/>
          <p:cNvSpPr/>
          <p:nvPr/>
        </p:nvSpPr>
        <p:spPr>
          <a:xfrm>
            <a:off x="4559201" y="4267200"/>
            <a:ext cx="373386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Trace product journey</a:t>
            </a:r>
            <a:endParaRPr sz="1200" b="0" i="0" u="none" strike="noStrike" cap="none">
              <a:solidFill>
                <a:schemeClr val="dk1"/>
              </a:solidFill>
              <a:latin typeface="Calibri"/>
              <a:ea typeface="Calibri"/>
              <a:cs typeface="Calibri"/>
              <a:sym typeface="Calibri"/>
            </a:endParaRPr>
          </a:p>
        </p:txBody>
      </p:sp>
      <p:sp>
        <p:nvSpPr>
          <p:cNvPr id="312" name="Google Shape;312;p13"/>
          <p:cNvSpPr/>
          <p:nvPr/>
        </p:nvSpPr>
        <p:spPr>
          <a:xfrm>
            <a:off x="4559201" y="4572000"/>
            <a:ext cx="373386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Identify suppliers</a:t>
            </a:r>
            <a:endParaRPr sz="1200" b="0" i="0" u="none" strike="noStrike" cap="none">
              <a:solidFill>
                <a:schemeClr val="dk1"/>
              </a:solidFill>
              <a:latin typeface="Calibri"/>
              <a:ea typeface="Calibri"/>
              <a:cs typeface="Calibri"/>
              <a:sym typeface="Calibri"/>
            </a:endParaRPr>
          </a:p>
        </p:txBody>
      </p:sp>
      <p:sp>
        <p:nvSpPr>
          <p:cNvPr id="313" name="Google Shape;313;p13"/>
          <p:cNvSpPr/>
          <p:nvPr/>
        </p:nvSpPr>
        <p:spPr>
          <a:xfrm>
            <a:off x="4559201" y="4876800"/>
            <a:ext cx="373386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Find related products</a:t>
            </a:r>
            <a:endParaRPr sz="1200" b="0" i="0" u="none" strike="noStrike" cap="none">
              <a:solidFill>
                <a:schemeClr val="dk1"/>
              </a:solidFill>
              <a:latin typeface="Calibri"/>
              <a:ea typeface="Calibri"/>
              <a:cs typeface="Calibri"/>
              <a:sym typeface="Calibri"/>
            </a:endParaRPr>
          </a:p>
        </p:txBody>
      </p:sp>
      <p:sp>
        <p:nvSpPr>
          <p:cNvPr id="314" name="Google Shape;314;p13"/>
          <p:cNvSpPr/>
          <p:nvPr/>
        </p:nvSpPr>
        <p:spPr>
          <a:xfrm>
            <a:off x="4559201" y="5181600"/>
            <a:ext cx="3733860"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Generate reports</a:t>
            </a:r>
            <a:endParaRPr sz="1200" b="0" i="0" u="none" strike="noStrike" cap="none">
              <a:solidFill>
                <a:schemeClr val="dk1"/>
              </a:solidFill>
              <a:latin typeface="Calibri"/>
              <a:ea typeface="Calibri"/>
              <a:cs typeface="Calibri"/>
              <a:sym typeface="Calibri"/>
            </a:endParaRPr>
          </a:p>
        </p:txBody>
      </p:sp>
      <p:sp>
        <p:nvSpPr>
          <p:cNvPr id="315" name="Google Shape;315;p13"/>
          <p:cNvSpPr/>
          <p:nvPr/>
        </p:nvSpPr>
        <p:spPr>
          <a:xfrm>
            <a:off x="8680400" y="3886200"/>
            <a:ext cx="314950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1D4ED8"/>
              </a:buClr>
              <a:buSzPts val="1350"/>
              <a:buFont typeface="Arial"/>
              <a:buNone/>
            </a:pPr>
            <a:r>
              <a:rPr lang="en-US" sz="1350" b="1" i="0" u="none" strike="noStrike" cap="none">
                <a:solidFill>
                  <a:srgbClr val="1D4ED8"/>
                </a:solidFill>
                <a:latin typeface="Arial"/>
                <a:ea typeface="Arial"/>
                <a:cs typeface="Arial"/>
                <a:sym typeface="Arial"/>
              </a:rPr>
              <a:t>Visualize</a:t>
            </a:r>
            <a:endParaRPr sz="1350" b="0" i="0" u="none" strike="noStrike" cap="none">
              <a:solidFill>
                <a:schemeClr val="dk1"/>
              </a:solidFill>
              <a:latin typeface="Calibri"/>
              <a:ea typeface="Calibri"/>
              <a:cs typeface="Calibri"/>
              <a:sym typeface="Calibri"/>
            </a:endParaRPr>
          </a:p>
        </p:txBody>
      </p:sp>
      <p:sp>
        <p:nvSpPr>
          <p:cNvPr id="316" name="Google Shape;316;p13"/>
          <p:cNvSpPr/>
          <p:nvPr/>
        </p:nvSpPr>
        <p:spPr>
          <a:xfrm>
            <a:off x="8470850" y="42672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View supply chain map</a:t>
            </a:r>
            <a:endParaRPr sz="1200" b="0" i="0" u="none" strike="noStrike" cap="none">
              <a:solidFill>
                <a:schemeClr val="dk1"/>
              </a:solidFill>
              <a:latin typeface="Calibri"/>
              <a:ea typeface="Calibri"/>
              <a:cs typeface="Calibri"/>
              <a:sym typeface="Calibri"/>
            </a:endParaRPr>
          </a:p>
        </p:txBody>
      </p:sp>
      <p:sp>
        <p:nvSpPr>
          <p:cNvPr id="317" name="Google Shape;317;p13"/>
          <p:cNvSpPr/>
          <p:nvPr/>
        </p:nvSpPr>
        <p:spPr>
          <a:xfrm>
            <a:off x="8470850" y="45720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See product relationships</a:t>
            </a:r>
            <a:endParaRPr sz="1200" b="0" i="0" u="none" strike="noStrike" cap="none">
              <a:solidFill>
                <a:schemeClr val="dk1"/>
              </a:solidFill>
              <a:latin typeface="Calibri"/>
              <a:ea typeface="Calibri"/>
              <a:cs typeface="Calibri"/>
              <a:sym typeface="Calibri"/>
            </a:endParaRPr>
          </a:p>
        </p:txBody>
      </p:sp>
      <p:sp>
        <p:nvSpPr>
          <p:cNvPr id="318" name="Google Shape;318;p13"/>
          <p:cNvSpPr/>
          <p:nvPr/>
        </p:nvSpPr>
        <p:spPr>
          <a:xfrm>
            <a:off x="8470850" y="48768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Analyze shipment patterns</a:t>
            </a:r>
            <a:endParaRPr sz="1200" b="0" i="0" u="none" strike="noStrike" cap="none">
              <a:solidFill>
                <a:schemeClr val="dk1"/>
              </a:solidFill>
              <a:latin typeface="Calibri"/>
              <a:ea typeface="Calibri"/>
              <a:cs typeface="Calibri"/>
              <a:sym typeface="Calibri"/>
            </a:endParaRPr>
          </a:p>
        </p:txBody>
      </p:sp>
      <p:sp>
        <p:nvSpPr>
          <p:cNvPr id="319" name="Google Shape;319;p13"/>
          <p:cNvSpPr/>
          <p:nvPr/>
        </p:nvSpPr>
        <p:spPr>
          <a:xfrm>
            <a:off x="8470850" y="5181600"/>
            <a:ext cx="3733681" cy="2286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374151"/>
              </a:buClr>
              <a:buSzPts val="1200"/>
              <a:buFont typeface="Arial"/>
              <a:buChar char="•"/>
            </a:pPr>
            <a:r>
              <a:rPr lang="en-US" sz="1200" b="0" i="0" u="none" strike="noStrike" cap="none">
                <a:solidFill>
                  <a:srgbClr val="374151"/>
                </a:solidFill>
                <a:latin typeface="Arial"/>
                <a:ea typeface="Arial"/>
                <a:cs typeface="Arial"/>
                <a:sym typeface="Arial"/>
              </a:rPr>
              <a:t>Identify bottlenecks</a:t>
            </a:r>
            <a:endParaRPr sz="1200" b="0" i="0" u="none" strike="noStrike" cap="none">
              <a:solidFill>
                <a:schemeClr val="dk1"/>
              </a:solidFill>
              <a:latin typeface="Calibri"/>
              <a:ea typeface="Calibri"/>
              <a:cs typeface="Calibri"/>
              <a:sym typeface="Calibri"/>
            </a:endParaRPr>
          </a:p>
        </p:txBody>
      </p:sp>
      <p:sp>
        <p:nvSpPr>
          <p:cNvPr id="320" name="Google Shape;320;p13"/>
          <p:cNvSpPr/>
          <p:nvPr/>
        </p:nvSpPr>
        <p:spPr>
          <a:xfrm>
            <a:off x="381000" y="6496050"/>
            <a:ext cx="1829157"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Team Members:</a:t>
            </a:r>
            <a:endParaRPr sz="1350" b="0" i="0" u="none" strike="noStrike" cap="none">
              <a:solidFill>
                <a:schemeClr val="dk1"/>
              </a:solidFill>
              <a:latin typeface="Calibri"/>
              <a:ea typeface="Calibri"/>
              <a:cs typeface="Calibri"/>
              <a:sym typeface="Calibri"/>
            </a:endParaRPr>
          </a:p>
        </p:txBody>
      </p:sp>
      <p:sp>
        <p:nvSpPr>
          <p:cNvPr id="321" name="Google Shape;321;p13"/>
          <p:cNvSpPr/>
          <p:nvPr/>
        </p:nvSpPr>
        <p:spPr>
          <a:xfrm>
            <a:off x="2057698" y="6496050"/>
            <a:ext cx="321933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4B5563"/>
              </a:buClr>
              <a:buSzPts val="1350"/>
              <a:buFont typeface="Arial"/>
              <a:buNone/>
            </a:pPr>
            <a:r>
              <a:rPr lang="en-US" sz="1350" b="0" i="0" u="none" strike="noStrike" cap="none">
                <a:solidFill>
                  <a:srgbClr val="4B5563"/>
                </a:solidFill>
                <a:latin typeface="Arial"/>
                <a:ea typeface="Arial"/>
                <a:cs typeface="Arial"/>
                <a:sym typeface="Arial"/>
              </a:rPr>
              <a:t>Prerana, Harini, Riyanshi, Hardi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14"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8" name="Google Shape;328;p14" descr="preencoded.png"/>
          <p:cNvPicPr preferRelativeResize="0"/>
          <p:nvPr/>
        </p:nvPicPr>
        <p:blipFill rotWithShape="1">
          <a:blip r:embed="rId4">
            <a:alphaModFix/>
          </a:blip>
          <a:srcRect/>
          <a:stretch/>
        </p:blipFill>
        <p:spPr>
          <a:xfrm>
            <a:off x="0" y="0"/>
            <a:ext cx="12192000" cy="762000"/>
          </a:xfrm>
          <a:prstGeom prst="rect">
            <a:avLst/>
          </a:prstGeom>
          <a:noFill/>
          <a:ln>
            <a:noFill/>
          </a:ln>
        </p:spPr>
      </p:pic>
      <p:pic>
        <p:nvPicPr>
          <p:cNvPr id="329" name="Google Shape;329;p14" descr="preencoded.png"/>
          <p:cNvPicPr preferRelativeResize="0"/>
          <p:nvPr/>
        </p:nvPicPr>
        <p:blipFill rotWithShape="1">
          <a:blip r:embed="rId5">
            <a:alphaModFix/>
          </a:blip>
          <a:srcRect/>
          <a:stretch/>
        </p:blipFill>
        <p:spPr>
          <a:xfrm>
            <a:off x="381000" y="1181100"/>
            <a:ext cx="285750" cy="228600"/>
          </a:xfrm>
          <a:prstGeom prst="rect">
            <a:avLst/>
          </a:prstGeom>
          <a:noFill/>
          <a:ln>
            <a:noFill/>
          </a:ln>
        </p:spPr>
      </p:pic>
      <p:pic>
        <p:nvPicPr>
          <p:cNvPr id="330" name="Google Shape;330;p14" descr="preencoded.png"/>
          <p:cNvPicPr preferRelativeResize="0"/>
          <p:nvPr/>
        </p:nvPicPr>
        <p:blipFill rotWithShape="1">
          <a:blip r:embed="rId6">
            <a:alphaModFix/>
          </a:blip>
          <a:srcRect/>
          <a:stretch/>
        </p:blipFill>
        <p:spPr>
          <a:xfrm>
            <a:off x="381000" y="1733550"/>
            <a:ext cx="381000" cy="381000"/>
          </a:xfrm>
          <a:prstGeom prst="rect">
            <a:avLst/>
          </a:prstGeom>
          <a:noFill/>
          <a:ln>
            <a:noFill/>
          </a:ln>
        </p:spPr>
      </p:pic>
      <p:pic>
        <p:nvPicPr>
          <p:cNvPr id="331" name="Google Shape;331;p14" descr="preencoded.png"/>
          <p:cNvPicPr preferRelativeResize="0"/>
          <p:nvPr/>
        </p:nvPicPr>
        <p:blipFill rotWithShape="1">
          <a:blip r:embed="rId7">
            <a:alphaModFix/>
          </a:blip>
          <a:srcRect/>
          <a:stretch/>
        </p:blipFill>
        <p:spPr>
          <a:xfrm>
            <a:off x="504825" y="1847850"/>
            <a:ext cx="133350" cy="152400"/>
          </a:xfrm>
          <a:prstGeom prst="rect">
            <a:avLst/>
          </a:prstGeom>
          <a:noFill/>
          <a:ln>
            <a:noFill/>
          </a:ln>
        </p:spPr>
      </p:pic>
      <p:pic>
        <p:nvPicPr>
          <p:cNvPr id="332" name="Google Shape;332;p14" descr="preencoded.png"/>
          <p:cNvPicPr preferRelativeResize="0"/>
          <p:nvPr/>
        </p:nvPicPr>
        <p:blipFill rotWithShape="1">
          <a:blip r:embed="rId8">
            <a:alphaModFix/>
          </a:blip>
          <a:srcRect/>
          <a:stretch/>
        </p:blipFill>
        <p:spPr>
          <a:xfrm>
            <a:off x="381000" y="2419350"/>
            <a:ext cx="381000" cy="381000"/>
          </a:xfrm>
          <a:prstGeom prst="rect">
            <a:avLst/>
          </a:prstGeom>
          <a:noFill/>
          <a:ln>
            <a:noFill/>
          </a:ln>
        </p:spPr>
      </p:pic>
      <p:pic>
        <p:nvPicPr>
          <p:cNvPr id="333" name="Google Shape;333;p14" descr="preencoded.png"/>
          <p:cNvPicPr preferRelativeResize="0"/>
          <p:nvPr/>
        </p:nvPicPr>
        <p:blipFill rotWithShape="1">
          <a:blip r:embed="rId9">
            <a:alphaModFix/>
          </a:blip>
          <a:srcRect/>
          <a:stretch/>
        </p:blipFill>
        <p:spPr>
          <a:xfrm>
            <a:off x="504825" y="2533650"/>
            <a:ext cx="133350" cy="152400"/>
          </a:xfrm>
          <a:prstGeom prst="rect">
            <a:avLst/>
          </a:prstGeom>
          <a:noFill/>
          <a:ln>
            <a:noFill/>
          </a:ln>
        </p:spPr>
      </p:pic>
      <p:pic>
        <p:nvPicPr>
          <p:cNvPr id="334" name="Google Shape;334;p14" descr="preencoded.png"/>
          <p:cNvPicPr preferRelativeResize="0"/>
          <p:nvPr/>
        </p:nvPicPr>
        <p:blipFill rotWithShape="1">
          <a:blip r:embed="rId10">
            <a:alphaModFix/>
          </a:blip>
          <a:srcRect/>
          <a:stretch/>
        </p:blipFill>
        <p:spPr>
          <a:xfrm>
            <a:off x="381000" y="3105150"/>
            <a:ext cx="381000" cy="381000"/>
          </a:xfrm>
          <a:prstGeom prst="rect">
            <a:avLst/>
          </a:prstGeom>
          <a:noFill/>
          <a:ln>
            <a:noFill/>
          </a:ln>
        </p:spPr>
      </p:pic>
      <p:pic>
        <p:nvPicPr>
          <p:cNvPr id="335" name="Google Shape;335;p14" descr="preencoded.png"/>
          <p:cNvPicPr preferRelativeResize="0"/>
          <p:nvPr/>
        </p:nvPicPr>
        <p:blipFill rotWithShape="1">
          <a:blip r:embed="rId7">
            <a:alphaModFix/>
          </a:blip>
          <a:srcRect/>
          <a:stretch/>
        </p:blipFill>
        <p:spPr>
          <a:xfrm>
            <a:off x="504825" y="3219450"/>
            <a:ext cx="133350" cy="152400"/>
          </a:xfrm>
          <a:prstGeom prst="rect">
            <a:avLst/>
          </a:prstGeom>
          <a:noFill/>
          <a:ln>
            <a:noFill/>
          </a:ln>
        </p:spPr>
      </p:pic>
      <p:pic>
        <p:nvPicPr>
          <p:cNvPr id="336" name="Google Shape;336;p14" descr="preencoded.png"/>
          <p:cNvPicPr preferRelativeResize="0"/>
          <p:nvPr/>
        </p:nvPicPr>
        <p:blipFill rotWithShape="1">
          <a:blip r:embed="rId11">
            <a:alphaModFix/>
          </a:blip>
          <a:srcRect/>
          <a:stretch/>
        </p:blipFill>
        <p:spPr>
          <a:xfrm>
            <a:off x="381000" y="3790950"/>
            <a:ext cx="381000" cy="381000"/>
          </a:xfrm>
          <a:prstGeom prst="rect">
            <a:avLst/>
          </a:prstGeom>
          <a:noFill/>
          <a:ln>
            <a:noFill/>
          </a:ln>
        </p:spPr>
      </p:pic>
      <p:pic>
        <p:nvPicPr>
          <p:cNvPr id="337" name="Google Shape;337;p14" descr="preencoded.png"/>
          <p:cNvPicPr preferRelativeResize="0"/>
          <p:nvPr/>
        </p:nvPicPr>
        <p:blipFill rotWithShape="1">
          <a:blip r:embed="rId9">
            <a:alphaModFix/>
          </a:blip>
          <a:srcRect/>
          <a:stretch/>
        </p:blipFill>
        <p:spPr>
          <a:xfrm>
            <a:off x="504825" y="3905250"/>
            <a:ext cx="133350" cy="152400"/>
          </a:xfrm>
          <a:prstGeom prst="rect">
            <a:avLst/>
          </a:prstGeom>
          <a:noFill/>
          <a:ln>
            <a:noFill/>
          </a:ln>
        </p:spPr>
      </p:pic>
      <p:pic>
        <p:nvPicPr>
          <p:cNvPr id="338" name="Google Shape;338;p14" descr="preencoded.png"/>
          <p:cNvPicPr preferRelativeResize="0"/>
          <p:nvPr/>
        </p:nvPicPr>
        <p:blipFill rotWithShape="1">
          <a:blip r:embed="rId12">
            <a:alphaModFix/>
          </a:blip>
          <a:srcRect/>
          <a:stretch/>
        </p:blipFill>
        <p:spPr>
          <a:xfrm>
            <a:off x="6096000" y="1143000"/>
            <a:ext cx="5715000" cy="4076700"/>
          </a:xfrm>
          <a:prstGeom prst="rect">
            <a:avLst/>
          </a:prstGeom>
          <a:noFill/>
          <a:ln>
            <a:noFill/>
          </a:ln>
        </p:spPr>
      </p:pic>
      <p:pic>
        <p:nvPicPr>
          <p:cNvPr id="339" name="Google Shape;339;p14" descr="preencoded.png"/>
          <p:cNvPicPr preferRelativeResize="0"/>
          <p:nvPr/>
        </p:nvPicPr>
        <p:blipFill rotWithShape="1">
          <a:blip r:embed="rId13">
            <a:alphaModFix/>
          </a:blip>
          <a:srcRect/>
          <a:stretch/>
        </p:blipFill>
        <p:spPr>
          <a:xfrm>
            <a:off x="6400800" y="1181100"/>
            <a:ext cx="228600" cy="228600"/>
          </a:xfrm>
          <a:prstGeom prst="rect">
            <a:avLst/>
          </a:prstGeom>
          <a:noFill/>
          <a:ln>
            <a:noFill/>
          </a:ln>
        </p:spPr>
      </p:pic>
      <p:pic>
        <p:nvPicPr>
          <p:cNvPr id="340" name="Google Shape;340;p14" descr="preencoded.png"/>
          <p:cNvPicPr preferRelativeResize="0"/>
          <p:nvPr/>
        </p:nvPicPr>
        <p:blipFill rotWithShape="1">
          <a:blip r:embed="rId14">
            <a:alphaModFix/>
          </a:blip>
          <a:srcRect/>
          <a:stretch/>
        </p:blipFill>
        <p:spPr>
          <a:xfrm>
            <a:off x="6400800" y="1676400"/>
            <a:ext cx="2628900" cy="762000"/>
          </a:xfrm>
          <a:prstGeom prst="rect">
            <a:avLst/>
          </a:prstGeom>
          <a:noFill/>
          <a:ln>
            <a:noFill/>
          </a:ln>
        </p:spPr>
      </p:pic>
      <p:pic>
        <p:nvPicPr>
          <p:cNvPr id="341" name="Google Shape;341;p14" descr="preencoded.png"/>
          <p:cNvPicPr preferRelativeResize="0"/>
          <p:nvPr/>
        </p:nvPicPr>
        <p:blipFill rotWithShape="1">
          <a:blip r:embed="rId6">
            <a:alphaModFix/>
          </a:blip>
          <a:srcRect/>
          <a:stretch/>
        </p:blipFill>
        <p:spPr>
          <a:xfrm>
            <a:off x="6553200" y="1866900"/>
            <a:ext cx="381000" cy="381000"/>
          </a:xfrm>
          <a:prstGeom prst="rect">
            <a:avLst/>
          </a:prstGeom>
          <a:noFill/>
          <a:ln>
            <a:noFill/>
          </a:ln>
        </p:spPr>
      </p:pic>
      <p:pic>
        <p:nvPicPr>
          <p:cNvPr id="342" name="Google Shape;342;p14" descr="preencoded.png"/>
          <p:cNvPicPr preferRelativeResize="0"/>
          <p:nvPr/>
        </p:nvPicPr>
        <p:blipFill rotWithShape="1">
          <a:blip r:embed="rId15">
            <a:alphaModFix/>
          </a:blip>
          <a:srcRect/>
          <a:stretch/>
        </p:blipFill>
        <p:spPr>
          <a:xfrm>
            <a:off x="6677025" y="1981200"/>
            <a:ext cx="133350" cy="152400"/>
          </a:xfrm>
          <a:prstGeom prst="rect">
            <a:avLst/>
          </a:prstGeom>
          <a:noFill/>
          <a:ln>
            <a:noFill/>
          </a:ln>
        </p:spPr>
      </p:pic>
      <p:pic>
        <p:nvPicPr>
          <p:cNvPr id="343" name="Google Shape;343;p14" descr="preencoded.png"/>
          <p:cNvPicPr preferRelativeResize="0"/>
          <p:nvPr/>
        </p:nvPicPr>
        <p:blipFill rotWithShape="1">
          <a:blip r:embed="rId16">
            <a:alphaModFix/>
          </a:blip>
          <a:srcRect/>
          <a:stretch/>
        </p:blipFill>
        <p:spPr>
          <a:xfrm>
            <a:off x="9182100" y="1676400"/>
            <a:ext cx="2628900" cy="762000"/>
          </a:xfrm>
          <a:prstGeom prst="rect">
            <a:avLst/>
          </a:prstGeom>
          <a:noFill/>
          <a:ln>
            <a:noFill/>
          </a:ln>
        </p:spPr>
      </p:pic>
      <p:pic>
        <p:nvPicPr>
          <p:cNvPr id="344" name="Google Shape;344;p14" descr="preencoded.png"/>
          <p:cNvPicPr preferRelativeResize="0"/>
          <p:nvPr/>
        </p:nvPicPr>
        <p:blipFill rotWithShape="1">
          <a:blip r:embed="rId17">
            <a:alphaModFix/>
          </a:blip>
          <a:srcRect/>
          <a:stretch/>
        </p:blipFill>
        <p:spPr>
          <a:xfrm>
            <a:off x="9334500" y="1866900"/>
            <a:ext cx="381000" cy="381000"/>
          </a:xfrm>
          <a:prstGeom prst="rect">
            <a:avLst/>
          </a:prstGeom>
          <a:noFill/>
          <a:ln>
            <a:noFill/>
          </a:ln>
        </p:spPr>
      </p:pic>
      <p:pic>
        <p:nvPicPr>
          <p:cNvPr id="345" name="Google Shape;345;p14" descr="preencoded.png"/>
          <p:cNvPicPr preferRelativeResize="0"/>
          <p:nvPr/>
        </p:nvPicPr>
        <p:blipFill rotWithShape="1">
          <a:blip r:embed="rId18">
            <a:alphaModFix/>
          </a:blip>
          <a:srcRect/>
          <a:stretch/>
        </p:blipFill>
        <p:spPr>
          <a:xfrm>
            <a:off x="9448800" y="1981200"/>
            <a:ext cx="152400" cy="152400"/>
          </a:xfrm>
          <a:prstGeom prst="rect">
            <a:avLst/>
          </a:prstGeom>
          <a:noFill/>
          <a:ln>
            <a:noFill/>
          </a:ln>
        </p:spPr>
      </p:pic>
      <p:pic>
        <p:nvPicPr>
          <p:cNvPr id="346" name="Google Shape;346;p14" descr="preencoded.png"/>
          <p:cNvPicPr preferRelativeResize="0"/>
          <p:nvPr/>
        </p:nvPicPr>
        <p:blipFill rotWithShape="1">
          <a:blip r:embed="rId19">
            <a:alphaModFix/>
          </a:blip>
          <a:srcRect/>
          <a:stretch/>
        </p:blipFill>
        <p:spPr>
          <a:xfrm>
            <a:off x="6400800" y="2590800"/>
            <a:ext cx="2628900" cy="762000"/>
          </a:xfrm>
          <a:prstGeom prst="rect">
            <a:avLst/>
          </a:prstGeom>
          <a:noFill/>
          <a:ln>
            <a:noFill/>
          </a:ln>
        </p:spPr>
      </p:pic>
      <p:pic>
        <p:nvPicPr>
          <p:cNvPr id="347" name="Google Shape;347;p14" descr="preencoded.png"/>
          <p:cNvPicPr preferRelativeResize="0"/>
          <p:nvPr/>
        </p:nvPicPr>
        <p:blipFill rotWithShape="1">
          <a:blip r:embed="rId20">
            <a:alphaModFix/>
          </a:blip>
          <a:srcRect/>
          <a:stretch/>
        </p:blipFill>
        <p:spPr>
          <a:xfrm>
            <a:off x="6553200" y="2781300"/>
            <a:ext cx="381000" cy="381000"/>
          </a:xfrm>
          <a:prstGeom prst="rect">
            <a:avLst/>
          </a:prstGeom>
          <a:noFill/>
          <a:ln>
            <a:noFill/>
          </a:ln>
        </p:spPr>
      </p:pic>
      <p:pic>
        <p:nvPicPr>
          <p:cNvPr id="348" name="Google Shape;348;p14" descr="preencoded.png"/>
          <p:cNvPicPr preferRelativeResize="0"/>
          <p:nvPr/>
        </p:nvPicPr>
        <p:blipFill rotWithShape="1">
          <a:blip r:embed="rId21">
            <a:alphaModFix/>
          </a:blip>
          <a:srcRect/>
          <a:stretch/>
        </p:blipFill>
        <p:spPr>
          <a:xfrm>
            <a:off x="6686550" y="2895600"/>
            <a:ext cx="114300" cy="152400"/>
          </a:xfrm>
          <a:prstGeom prst="rect">
            <a:avLst/>
          </a:prstGeom>
          <a:noFill/>
          <a:ln>
            <a:noFill/>
          </a:ln>
        </p:spPr>
      </p:pic>
      <p:pic>
        <p:nvPicPr>
          <p:cNvPr id="349" name="Google Shape;349;p14" descr="preencoded.png"/>
          <p:cNvPicPr preferRelativeResize="0"/>
          <p:nvPr/>
        </p:nvPicPr>
        <p:blipFill rotWithShape="1">
          <a:blip r:embed="rId22">
            <a:alphaModFix/>
          </a:blip>
          <a:srcRect/>
          <a:stretch/>
        </p:blipFill>
        <p:spPr>
          <a:xfrm>
            <a:off x="9182100" y="2590800"/>
            <a:ext cx="2628900" cy="762000"/>
          </a:xfrm>
          <a:prstGeom prst="rect">
            <a:avLst/>
          </a:prstGeom>
          <a:noFill/>
          <a:ln>
            <a:noFill/>
          </a:ln>
        </p:spPr>
      </p:pic>
      <p:pic>
        <p:nvPicPr>
          <p:cNvPr id="350" name="Google Shape;350;p14" descr="preencoded.png"/>
          <p:cNvPicPr preferRelativeResize="0"/>
          <p:nvPr/>
        </p:nvPicPr>
        <p:blipFill rotWithShape="1">
          <a:blip r:embed="rId23">
            <a:alphaModFix/>
          </a:blip>
          <a:srcRect/>
          <a:stretch/>
        </p:blipFill>
        <p:spPr>
          <a:xfrm>
            <a:off x="9334500" y="2781300"/>
            <a:ext cx="381000" cy="381000"/>
          </a:xfrm>
          <a:prstGeom prst="rect">
            <a:avLst/>
          </a:prstGeom>
          <a:noFill/>
          <a:ln>
            <a:noFill/>
          </a:ln>
        </p:spPr>
      </p:pic>
      <p:pic>
        <p:nvPicPr>
          <p:cNvPr id="351" name="Google Shape;351;p14" descr="preencoded.png"/>
          <p:cNvPicPr preferRelativeResize="0"/>
          <p:nvPr/>
        </p:nvPicPr>
        <p:blipFill rotWithShape="1">
          <a:blip r:embed="rId24">
            <a:alphaModFix/>
          </a:blip>
          <a:srcRect/>
          <a:stretch/>
        </p:blipFill>
        <p:spPr>
          <a:xfrm>
            <a:off x="9439275" y="2895600"/>
            <a:ext cx="171450" cy="152400"/>
          </a:xfrm>
          <a:prstGeom prst="rect">
            <a:avLst/>
          </a:prstGeom>
          <a:noFill/>
          <a:ln>
            <a:noFill/>
          </a:ln>
        </p:spPr>
      </p:pic>
      <p:pic>
        <p:nvPicPr>
          <p:cNvPr id="352" name="Google Shape;352;p14" descr="preencoded.png"/>
          <p:cNvPicPr preferRelativeResize="0"/>
          <p:nvPr/>
        </p:nvPicPr>
        <p:blipFill rotWithShape="1">
          <a:blip r:embed="rId25">
            <a:alphaModFix/>
          </a:blip>
          <a:srcRect/>
          <a:stretch/>
        </p:blipFill>
        <p:spPr>
          <a:xfrm>
            <a:off x="6400800" y="3771900"/>
            <a:ext cx="200025" cy="228600"/>
          </a:xfrm>
          <a:prstGeom prst="rect">
            <a:avLst/>
          </a:prstGeom>
          <a:noFill/>
          <a:ln>
            <a:noFill/>
          </a:ln>
        </p:spPr>
      </p:pic>
      <p:pic>
        <p:nvPicPr>
          <p:cNvPr id="353" name="Google Shape;353;p14" descr="preencoded.png"/>
          <p:cNvPicPr preferRelativeResize="0"/>
          <p:nvPr/>
        </p:nvPicPr>
        <p:blipFill rotWithShape="1">
          <a:blip r:embed="rId26">
            <a:alphaModFix/>
          </a:blip>
          <a:srcRect/>
          <a:stretch/>
        </p:blipFill>
        <p:spPr>
          <a:xfrm>
            <a:off x="6400800" y="4229100"/>
            <a:ext cx="381000" cy="381000"/>
          </a:xfrm>
          <a:prstGeom prst="rect">
            <a:avLst/>
          </a:prstGeom>
          <a:noFill/>
          <a:ln>
            <a:noFill/>
          </a:ln>
        </p:spPr>
      </p:pic>
      <p:pic>
        <p:nvPicPr>
          <p:cNvPr id="354" name="Google Shape;354;p14" descr="preencoded.png"/>
          <p:cNvPicPr preferRelativeResize="0"/>
          <p:nvPr/>
        </p:nvPicPr>
        <p:blipFill rotWithShape="1">
          <a:blip r:embed="rId27">
            <a:alphaModFix/>
          </a:blip>
          <a:srcRect/>
          <a:stretch/>
        </p:blipFill>
        <p:spPr>
          <a:xfrm>
            <a:off x="6515100" y="4343400"/>
            <a:ext cx="152400" cy="152400"/>
          </a:xfrm>
          <a:prstGeom prst="rect">
            <a:avLst/>
          </a:prstGeom>
          <a:noFill/>
          <a:ln>
            <a:noFill/>
          </a:ln>
        </p:spPr>
      </p:pic>
      <p:pic>
        <p:nvPicPr>
          <p:cNvPr id="355" name="Google Shape;355;p14" descr="preencoded.png"/>
          <p:cNvPicPr preferRelativeResize="0"/>
          <p:nvPr/>
        </p:nvPicPr>
        <p:blipFill rotWithShape="1">
          <a:blip r:embed="rId28">
            <a:alphaModFix/>
          </a:blip>
          <a:srcRect/>
          <a:stretch/>
        </p:blipFill>
        <p:spPr>
          <a:xfrm>
            <a:off x="6400800" y="4800600"/>
            <a:ext cx="381000" cy="381000"/>
          </a:xfrm>
          <a:prstGeom prst="rect">
            <a:avLst/>
          </a:prstGeom>
          <a:noFill/>
          <a:ln>
            <a:noFill/>
          </a:ln>
        </p:spPr>
      </p:pic>
      <p:pic>
        <p:nvPicPr>
          <p:cNvPr id="356" name="Google Shape;356;p14" descr="preencoded.png"/>
          <p:cNvPicPr preferRelativeResize="0"/>
          <p:nvPr/>
        </p:nvPicPr>
        <p:blipFill rotWithShape="1">
          <a:blip r:embed="rId29">
            <a:alphaModFix/>
          </a:blip>
          <a:srcRect/>
          <a:stretch/>
        </p:blipFill>
        <p:spPr>
          <a:xfrm>
            <a:off x="6505575" y="4914900"/>
            <a:ext cx="171450" cy="152400"/>
          </a:xfrm>
          <a:prstGeom prst="rect">
            <a:avLst/>
          </a:prstGeom>
          <a:noFill/>
          <a:ln>
            <a:noFill/>
          </a:ln>
        </p:spPr>
      </p:pic>
      <p:pic>
        <p:nvPicPr>
          <p:cNvPr id="357" name="Google Shape;357;p14" descr="preencoded.png"/>
          <p:cNvPicPr preferRelativeResize="0"/>
          <p:nvPr/>
        </p:nvPicPr>
        <p:blipFill rotWithShape="1">
          <a:blip r:embed="rId30">
            <a:alphaModFix/>
          </a:blip>
          <a:srcRect/>
          <a:stretch/>
        </p:blipFill>
        <p:spPr>
          <a:xfrm>
            <a:off x="0" y="5600700"/>
            <a:ext cx="12192000" cy="571500"/>
          </a:xfrm>
          <a:prstGeom prst="rect">
            <a:avLst/>
          </a:prstGeom>
          <a:noFill/>
          <a:ln>
            <a:noFill/>
          </a:ln>
        </p:spPr>
      </p:pic>
      <p:sp>
        <p:nvSpPr>
          <p:cNvPr id="358" name="Google Shape;358;p14"/>
          <p:cNvSpPr/>
          <p:nvPr/>
        </p:nvSpPr>
        <p:spPr>
          <a:xfrm>
            <a:off x="381000" y="209550"/>
            <a:ext cx="4086225"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2250"/>
              <a:buFont typeface="Arial"/>
              <a:buNone/>
            </a:pPr>
            <a:r>
              <a:rPr lang="en-US" sz="2250" b="1" i="0" u="none" strike="noStrike" cap="none">
                <a:solidFill>
                  <a:srgbClr val="FFFFFF"/>
                </a:solidFill>
                <a:latin typeface="Arial"/>
                <a:ea typeface="Arial"/>
                <a:cs typeface="Arial"/>
                <a:sym typeface="Arial"/>
              </a:rPr>
              <a:t>References &amp; Credits</a:t>
            </a:r>
            <a:endParaRPr sz="2250" b="0" i="0" u="none" strike="noStrike" cap="none">
              <a:solidFill>
                <a:schemeClr val="dk1"/>
              </a:solidFill>
              <a:latin typeface="Calibri"/>
              <a:ea typeface="Calibri"/>
              <a:cs typeface="Calibri"/>
              <a:sym typeface="Calibri"/>
            </a:endParaRPr>
          </a:p>
        </p:txBody>
      </p:sp>
      <p:sp>
        <p:nvSpPr>
          <p:cNvPr id="359" name="Google Shape;359;p14"/>
          <p:cNvSpPr/>
          <p:nvPr/>
        </p:nvSpPr>
        <p:spPr>
          <a:xfrm>
            <a:off x="7091065" y="247650"/>
            <a:ext cx="5663922" cy="26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Food Supply Chain Traceability &amp; Recall Data Hub</a:t>
            </a:r>
            <a:endParaRPr sz="1500" b="0" i="0" u="none" strike="noStrike" cap="none">
              <a:solidFill>
                <a:schemeClr val="dk1"/>
              </a:solidFill>
              <a:latin typeface="Calibri"/>
              <a:ea typeface="Calibri"/>
              <a:cs typeface="Calibri"/>
              <a:sym typeface="Calibri"/>
            </a:endParaRPr>
          </a:p>
        </p:txBody>
      </p:sp>
      <p:sp>
        <p:nvSpPr>
          <p:cNvPr id="360" name="Google Shape;360;p14"/>
          <p:cNvSpPr/>
          <p:nvPr/>
        </p:nvSpPr>
        <p:spPr>
          <a:xfrm>
            <a:off x="781050" y="1143000"/>
            <a:ext cx="649224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Team Acknowledgments</a:t>
            </a:r>
            <a:endParaRPr sz="1800" b="0" i="0" u="none" strike="noStrike" cap="none">
              <a:solidFill>
                <a:schemeClr val="dk1"/>
              </a:solidFill>
              <a:latin typeface="Calibri"/>
              <a:ea typeface="Calibri"/>
              <a:cs typeface="Calibri"/>
              <a:sym typeface="Calibri"/>
            </a:endParaRPr>
          </a:p>
        </p:txBody>
      </p:sp>
      <p:sp>
        <p:nvSpPr>
          <p:cNvPr id="361" name="Google Shape;361;p14"/>
          <p:cNvSpPr/>
          <p:nvPr/>
        </p:nvSpPr>
        <p:spPr>
          <a:xfrm>
            <a:off x="914400" y="1676400"/>
            <a:ext cx="2727722"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Prerana</a:t>
            </a:r>
            <a:endParaRPr sz="1350" b="0" i="0" u="none" strike="noStrike" cap="none">
              <a:solidFill>
                <a:schemeClr val="dk1"/>
              </a:solidFill>
              <a:latin typeface="Calibri"/>
              <a:ea typeface="Calibri"/>
              <a:cs typeface="Calibri"/>
              <a:sym typeface="Calibri"/>
            </a:endParaRPr>
          </a:p>
        </p:txBody>
      </p:sp>
      <p:sp>
        <p:nvSpPr>
          <p:cNvPr id="362" name="Google Shape;362;p14"/>
          <p:cNvSpPr/>
          <p:nvPr/>
        </p:nvSpPr>
        <p:spPr>
          <a:xfrm>
            <a:off x="914400" y="1943100"/>
            <a:ext cx="3273266"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B5563"/>
              </a:buClr>
              <a:buSzPts val="1200"/>
              <a:buFont typeface="Arial"/>
              <a:buNone/>
            </a:pPr>
            <a:r>
              <a:rPr lang="en-US" sz="1200" b="0" i="0" u="none" strike="noStrike" cap="none">
                <a:solidFill>
                  <a:srgbClr val="4B5563"/>
                </a:solidFill>
                <a:latin typeface="Arial"/>
                <a:ea typeface="Arial"/>
                <a:cs typeface="Arial"/>
                <a:sym typeface="Arial"/>
              </a:rPr>
              <a:t>Database Design &amp; Implementation</a:t>
            </a:r>
            <a:endParaRPr sz="1200" b="0" i="0" u="none" strike="noStrike" cap="none">
              <a:solidFill>
                <a:schemeClr val="dk1"/>
              </a:solidFill>
              <a:latin typeface="Calibri"/>
              <a:ea typeface="Calibri"/>
              <a:cs typeface="Calibri"/>
              <a:sym typeface="Calibri"/>
            </a:endParaRPr>
          </a:p>
        </p:txBody>
      </p:sp>
      <p:sp>
        <p:nvSpPr>
          <p:cNvPr id="363" name="Google Shape;363;p14"/>
          <p:cNvSpPr/>
          <p:nvPr/>
        </p:nvSpPr>
        <p:spPr>
          <a:xfrm>
            <a:off x="914400" y="2362200"/>
            <a:ext cx="221858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Harini</a:t>
            </a:r>
            <a:endParaRPr sz="1350" b="0" i="0" u="none" strike="noStrike" cap="none">
              <a:solidFill>
                <a:schemeClr val="dk1"/>
              </a:solidFill>
              <a:latin typeface="Calibri"/>
              <a:ea typeface="Calibri"/>
              <a:cs typeface="Calibri"/>
              <a:sym typeface="Calibri"/>
            </a:endParaRPr>
          </a:p>
        </p:txBody>
      </p:sp>
      <p:sp>
        <p:nvSpPr>
          <p:cNvPr id="364" name="Google Shape;364;p14"/>
          <p:cNvSpPr/>
          <p:nvPr/>
        </p:nvSpPr>
        <p:spPr>
          <a:xfrm>
            <a:off x="914400" y="2628900"/>
            <a:ext cx="2662297"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B5563"/>
              </a:buClr>
              <a:buSzPts val="1200"/>
              <a:buFont typeface="Arial"/>
              <a:buNone/>
            </a:pPr>
            <a:r>
              <a:rPr lang="en-US" sz="1200" b="0" i="0" u="none" strike="noStrike" cap="none">
                <a:solidFill>
                  <a:srgbClr val="4B5563"/>
                </a:solidFill>
                <a:latin typeface="Arial"/>
                <a:ea typeface="Arial"/>
                <a:cs typeface="Arial"/>
                <a:sym typeface="Arial"/>
              </a:rPr>
              <a:t>Data Analysis &amp; Visualization</a:t>
            </a:r>
            <a:endParaRPr sz="1200" b="0" i="0" u="none" strike="noStrike" cap="none">
              <a:solidFill>
                <a:schemeClr val="dk1"/>
              </a:solidFill>
              <a:latin typeface="Calibri"/>
              <a:ea typeface="Calibri"/>
              <a:cs typeface="Calibri"/>
              <a:sym typeface="Calibri"/>
            </a:endParaRPr>
          </a:p>
        </p:txBody>
      </p:sp>
      <p:sp>
        <p:nvSpPr>
          <p:cNvPr id="365" name="Google Shape;365;p14"/>
          <p:cNvSpPr/>
          <p:nvPr/>
        </p:nvSpPr>
        <p:spPr>
          <a:xfrm>
            <a:off x="914400" y="3048000"/>
            <a:ext cx="2289125"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Riyanshi</a:t>
            </a:r>
            <a:endParaRPr sz="1350" b="0" i="0" u="none" strike="noStrike" cap="none">
              <a:solidFill>
                <a:schemeClr val="dk1"/>
              </a:solidFill>
              <a:latin typeface="Calibri"/>
              <a:ea typeface="Calibri"/>
              <a:cs typeface="Calibri"/>
              <a:sym typeface="Calibri"/>
            </a:endParaRPr>
          </a:p>
        </p:txBody>
      </p:sp>
      <p:sp>
        <p:nvSpPr>
          <p:cNvPr id="366" name="Google Shape;366;p14"/>
          <p:cNvSpPr/>
          <p:nvPr/>
        </p:nvSpPr>
        <p:spPr>
          <a:xfrm>
            <a:off x="914400" y="3314700"/>
            <a:ext cx="2746950"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B5563"/>
              </a:buClr>
              <a:buSzPts val="1200"/>
              <a:buFont typeface="Arial"/>
              <a:buNone/>
            </a:pPr>
            <a:r>
              <a:rPr lang="en-US" sz="1200" b="0" i="0" u="none" strike="noStrike" cap="none">
                <a:solidFill>
                  <a:srgbClr val="4B5563"/>
                </a:solidFill>
                <a:latin typeface="Arial"/>
                <a:ea typeface="Arial"/>
                <a:cs typeface="Arial"/>
                <a:sym typeface="Arial"/>
              </a:rPr>
              <a:t>Query Development &amp; Testing</a:t>
            </a:r>
            <a:endParaRPr sz="1200" b="0" i="0" u="none" strike="noStrike" cap="none">
              <a:solidFill>
                <a:schemeClr val="dk1"/>
              </a:solidFill>
              <a:latin typeface="Calibri"/>
              <a:ea typeface="Calibri"/>
              <a:cs typeface="Calibri"/>
              <a:sym typeface="Calibri"/>
            </a:endParaRPr>
          </a:p>
        </p:txBody>
      </p:sp>
      <p:sp>
        <p:nvSpPr>
          <p:cNvPr id="367" name="Google Shape;367;p14"/>
          <p:cNvSpPr/>
          <p:nvPr/>
        </p:nvSpPr>
        <p:spPr>
          <a:xfrm>
            <a:off x="914400" y="3733800"/>
            <a:ext cx="2964359"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Hardi</a:t>
            </a:r>
            <a:endParaRPr sz="1350" b="0" i="0" u="none" strike="noStrike" cap="none">
              <a:solidFill>
                <a:schemeClr val="dk1"/>
              </a:solidFill>
              <a:latin typeface="Calibri"/>
              <a:ea typeface="Calibri"/>
              <a:cs typeface="Calibri"/>
              <a:sym typeface="Calibri"/>
            </a:endParaRPr>
          </a:p>
        </p:txBody>
      </p:sp>
      <p:sp>
        <p:nvSpPr>
          <p:cNvPr id="368" name="Google Shape;368;p14"/>
          <p:cNvSpPr/>
          <p:nvPr/>
        </p:nvSpPr>
        <p:spPr>
          <a:xfrm>
            <a:off x="914400" y="4000500"/>
            <a:ext cx="3557230"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B5563"/>
              </a:buClr>
              <a:buSzPts val="1200"/>
              <a:buFont typeface="Arial"/>
              <a:buNone/>
            </a:pPr>
            <a:r>
              <a:rPr lang="en-US" sz="1200" b="0" i="0" u="none" strike="noStrike" cap="none">
                <a:solidFill>
                  <a:srgbClr val="4B5563"/>
                </a:solidFill>
                <a:latin typeface="Arial"/>
                <a:ea typeface="Arial"/>
                <a:cs typeface="Arial"/>
                <a:sym typeface="Arial"/>
              </a:rPr>
              <a:t>Project Management &amp; Documentation</a:t>
            </a:r>
            <a:endParaRPr sz="1200" b="0" i="0" u="none" strike="noStrike" cap="none">
              <a:solidFill>
                <a:schemeClr val="dk1"/>
              </a:solidFill>
              <a:latin typeface="Calibri"/>
              <a:ea typeface="Calibri"/>
              <a:cs typeface="Calibri"/>
              <a:sym typeface="Calibri"/>
            </a:endParaRPr>
          </a:p>
        </p:txBody>
      </p:sp>
      <p:sp>
        <p:nvSpPr>
          <p:cNvPr id="369" name="Google Shape;369;p14"/>
          <p:cNvSpPr/>
          <p:nvPr/>
        </p:nvSpPr>
        <p:spPr>
          <a:xfrm>
            <a:off x="6743700" y="11430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Tools Utilized</a:t>
            </a:r>
            <a:endParaRPr sz="1800" b="0" i="0" u="none" strike="noStrike" cap="none">
              <a:solidFill>
                <a:schemeClr val="dk1"/>
              </a:solidFill>
              <a:latin typeface="Calibri"/>
              <a:ea typeface="Calibri"/>
              <a:cs typeface="Calibri"/>
              <a:sym typeface="Calibri"/>
            </a:endParaRPr>
          </a:p>
        </p:txBody>
      </p:sp>
      <p:sp>
        <p:nvSpPr>
          <p:cNvPr id="370" name="Google Shape;370;p14"/>
          <p:cNvSpPr/>
          <p:nvPr/>
        </p:nvSpPr>
        <p:spPr>
          <a:xfrm>
            <a:off x="7048500" y="1828800"/>
            <a:ext cx="1868626"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SQL Server</a:t>
            </a:r>
            <a:endParaRPr sz="1350" b="0" i="0" u="none" strike="noStrike" cap="none">
              <a:solidFill>
                <a:schemeClr val="dk1"/>
              </a:solidFill>
              <a:latin typeface="Calibri"/>
              <a:ea typeface="Calibri"/>
              <a:cs typeface="Calibri"/>
              <a:sym typeface="Calibri"/>
            </a:endParaRPr>
          </a:p>
        </p:txBody>
      </p:sp>
      <p:sp>
        <p:nvSpPr>
          <p:cNvPr id="371" name="Google Shape;371;p14"/>
          <p:cNvSpPr/>
          <p:nvPr/>
        </p:nvSpPr>
        <p:spPr>
          <a:xfrm>
            <a:off x="7048500" y="2095500"/>
            <a:ext cx="1868626"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Database Management</a:t>
            </a:r>
            <a:endParaRPr sz="1050" b="0" i="0" u="none" strike="noStrike" cap="none">
              <a:solidFill>
                <a:schemeClr val="dk1"/>
              </a:solidFill>
              <a:latin typeface="Calibri"/>
              <a:ea typeface="Calibri"/>
              <a:cs typeface="Calibri"/>
              <a:sym typeface="Calibri"/>
            </a:endParaRPr>
          </a:p>
        </p:txBody>
      </p:sp>
      <p:sp>
        <p:nvSpPr>
          <p:cNvPr id="372" name="Google Shape;372;p14"/>
          <p:cNvSpPr/>
          <p:nvPr/>
        </p:nvSpPr>
        <p:spPr>
          <a:xfrm>
            <a:off x="9829800" y="1828800"/>
            <a:ext cx="1443752"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Power BI</a:t>
            </a:r>
            <a:endParaRPr sz="1350" b="0" i="0" u="none" strike="noStrike" cap="none">
              <a:solidFill>
                <a:schemeClr val="dk1"/>
              </a:solidFill>
              <a:latin typeface="Calibri"/>
              <a:ea typeface="Calibri"/>
              <a:cs typeface="Calibri"/>
              <a:sym typeface="Calibri"/>
            </a:endParaRPr>
          </a:p>
        </p:txBody>
      </p:sp>
      <p:sp>
        <p:nvSpPr>
          <p:cNvPr id="373" name="Google Shape;373;p14"/>
          <p:cNvSpPr/>
          <p:nvPr/>
        </p:nvSpPr>
        <p:spPr>
          <a:xfrm>
            <a:off x="9829800" y="2095500"/>
            <a:ext cx="1443752"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Data Visualization</a:t>
            </a:r>
            <a:endParaRPr sz="1050" b="0" i="0" u="none" strike="noStrike" cap="none">
              <a:solidFill>
                <a:schemeClr val="dk1"/>
              </a:solidFill>
              <a:latin typeface="Calibri"/>
              <a:ea typeface="Calibri"/>
              <a:cs typeface="Calibri"/>
              <a:sym typeface="Calibri"/>
            </a:endParaRPr>
          </a:p>
        </p:txBody>
      </p:sp>
      <p:sp>
        <p:nvSpPr>
          <p:cNvPr id="374" name="Google Shape;374;p14"/>
          <p:cNvSpPr/>
          <p:nvPr/>
        </p:nvSpPr>
        <p:spPr>
          <a:xfrm>
            <a:off x="7048500" y="2743200"/>
            <a:ext cx="1092279"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Excel</a:t>
            </a:r>
            <a:endParaRPr sz="1350" b="0" i="0" u="none" strike="noStrike" cap="none">
              <a:solidFill>
                <a:schemeClr val="dk1"/>
              </a:solidFill>
              <a:latin typeface="Calibri"/>
              <a:ea typeface="Calibri"/>
              <a:cs typeface="Calibri"/>
              <a:sym typeface="Calibri"/>
            </a:endParaRPr>
          </a:p>
        </p:txBody>
      </p:sp>
      <p:sp>
        <p:nvSpPr>
          <p:cNvPr id="375" name="Google Shape;375;p14"/>
          <p:cNvSpPr/>
          <p:nvPr/>
        </p:nvSpPr>
        <p:spPr>
          <a:xfrm>
            <a:off x="7048500" y="3009900"/>
            <a:ext cx="1092279"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Data Analysis</a:t>
            </a:r>
            <a:endParaRPr sz="1050" b="0" i="0" u="none" strike="noStrike" cap="none">
              <a:solidFill>
                <a:schemeClr val="dk1"/>
              </a:solidFill>
              <a:latin typeface="Calibri"/>
              <a:ea typeface="Calibri"/>
              <a:cs typeface="Calibri"/>
              <a:sym typeface="Calibri"/>
            </a:endParaRPr>
          </a:p>
        </p:txBody>
      </p:sp>
      <p:sp>
        <p:nvSpPr>
          <p:cNvPr id="376" name="Google Shape;376;p14"/>
          <p:cNvSpPr/>
          <p:nvPr/>
        </p:nvSpPr>
        <p:spPr>
          <a:xfrm>
            <a:off x="9829800" y="2743200"/>
            <a:ext cx="1010841"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Tableau</a:t>
            </a:r>
            <a:endParaRPr sz="1350" b="0" i="0" u="none" strike="noStrike" cap="none">
              <a:solidFill>
                <a:schemeClr val="dk1"/>
              </a:solidFill>
              <a:latin typeface="Calibri"/>
              <a:ea typeface="Calibri"/>
              <a:cs typeface="Calibri"/>
              <a:sym typeface="Calibri"/>
            </a:endParaRPr>
          </a:p>
        </p:txBody>
      </p:sp>
      <p:sp>
        <p:nvSpPr>
          <p:cNvPr id="377" name="Google Shape;377;p14"/>
          <p:cNvSpPr/>
          <p:nvPr/>
        </p:nvSpPr>
        <p:spPr>
          <a:xfrm>
            <a:off x="9829800" y="3009900"/>
            <a:ext cx="1010841"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Visualization</a:t>
            </a:r>
            <a:endParaRPr sz="1050" b="0" i="0" u="none" strike="noStrike" cap="none">
              <a:solidFill>
                <a:schemeClr val="dk1"/>
              </a:solidFill>
              <a:latin typeface="Calibri"/>
              <a:ea typeface="Calibri"/>
              <a:cs typeface="Calibri"/>
              <a:sym typeface="Calibri"/>
            </a:endParaRPr>
          </a:p>
        </p:txBody>
      </p:sp>
      <p:sp>
        <p:nvSpPr>
          <p:cNvPr id="378" name="Google Shape;378;p14"/>
          <p:cNvSpPr/>
          <p:nvPr/>
        </p:nvSpPr>
        <p:spPr>
          <a:xfrm>
            <a:off x="6715125" y="3733800"/>
            <a:ext cx="5410200" cy="304800"/>
          </a:xfrm>
          <a:prstGeom prst="rect">
            <a:avLst/>
          </a:prstGeom>
          <a:noFill/>
          <a:ln>
            <a:noFill/>
          </a:ln>
        </p:spPr>
        <p:txBody>
          <a:bodyPr spcFirstLastPara="1" wrap="square" lIns="0" tIns="0" rIns="0" bIns="0" anchor="t" anchorCtr="0">
            <a:noAutofit/>
          </a:bodyPr>
          <a:lstStyle/>
          <a:p>
            <a:pPr marL="0" marR="0" lvl="0" indent="0" algn="l" rtl="0">
              <a:lnSpc>
                <a:spcPct val="133333"/>
              </a:lnSpc>
              <a:spcBef>
                <a:spcPts val="0"/>
              </a:spcBef>
              <a:spcAft>
                <a:spcPts val="0"/>
              </a:spcAft>
              <a:buClr>
                <a:srgbClr val="1D4ED8"/>
              </a:buClr>
              <a:buSzPts val="1800"/>
              <a:buFont typeface="Arial"/>
              <a:buNone/>
            </a:pPr>
            <a:r>
              <a:rPr lang="en-US" sz="1800" b="1" i="0" u="none" strike="noStrike" cap="none">
                <a:solidFill>
                  <a:srgbClr val="1D4ED8"/>
                </a:solidFill>
                <a:latin typeface="Arial"/>
                <a:ea typeface="Arial"/>
                <a:cs typeface="Arial"/>
                <a:sym typeface="Arial"/>
              </a:rPr>
              <a:t>Project Repository</a:t>
            </a:r>
            <a:endParaRPr sz="1800" b="0" i="0" u="none" strike="noStrike" cap="none">
              <a:solidFill>
                <a:schemeClr val="dk1"/>
              </a:solidFill>
              <a:latin typeface="Calibri"/>
              <a:ea typeface="Calibri"/>
              <a:cs typeface="Calibri"/>
              <a:sym typeface="Calibri"/>
            </a:endParaRPr>
          </a:p>
        </p:txBody>
      </p:sp>
      <p:sp>
        <p:nvSpPr>
          <p:cNvPr id="379" name="Google Shape;379;p14"/>
          <p:cNvSpPr/>
          <p:nvPr/>
        </p:nvSpPr>
        <p:spPr>
          <a:xfrm>
            <a:off x="6934200" y="4191000"/>
            <a:ext cx="2232779"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GitHub Repository</a:t>
            </a:r>
            <a:endParaRPr sz="1350" b="0" i="0" u="none" strike="noStrike" cap="none">
              <a:solidFill>
                <a:schemeClr val="dk1"/>
              </a:solidFill>
              <a:latin typeface="Calibri"/>
              <a:ea typeface="Calibri"/>
              <a:cs typeface="Calibri"/>
              <a:sym typeface="Calibri"/>
            </a:endParaRPr>
          </a:p>
        </p:txBody>
      </p:sp>
      <p:sp>
        <p:nvSpPr>
          <p:cNvPr id="380" name="Google Shape;380;p14"/>
          <p:cNvSpPr/>
          <p:nvPr/>
        </p:nvSpPr>
        <p:spPr>
          <a:xfrm>
            <a:off x="6934200" y="4457700"/>
            <a:ext cx="2232779"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Placeholder for code access</a:t>
            </a:r>
            <a:endParaRPr sz="1050" b="0" i="0" u="none" strike="noStrike" cap="none">
              <a:solidFill>
                <a:schemeClr val="dk1"/>
              </a:solidFill>
              <a:latin typeface="Calibri"/>
              <a:ea typeface="Calibri"/>
              <a:cs typeface="Calibri"/>
              <a:sym typeface="Calibri"/>
            </a:endParaRPr>
          </a:p>
        </p:txBody>
      </p:sp>
      <p:sp>
        <p:nvSpPr>
          <p:cNvPr id="381" name="Google Shape;381;p14"/>
          <p:cNvSpPr/>
          <p:nvPr/>
        </p:nvSpPr>
        <p:spPr>
          <a:xfrm>
            <a:off x="6934200" y="4762500"/>
            <a:ext cx="2234029"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000000"/>
              </a:buClr>
              <a:buSzPts val="1350"/>
              <a:buFont typeface="Arial"/>
              <a:buNone/>
            </a:pPr>
            <a:r>
              <a:rPr lang="en-US" sz="1350" b="0" i="0" u="none" strike="noStrike" cap="none">
                <a:solidFill>
                  <a:srgbClr val="000000"/>
                </a:solidFill>
                <a:latin typeface="Arial"/>
                <a:ea typeface="Arial"/>
                <a:cs typeface="Arial"/>
                <a:sym typeface="Arial"/>
              </a:rPr>
              <a:t>Documentation</a:t>
            </a:r>
            <a:endParaRPr sz="1350" b="0" i="0" u="none" strike="noStrike" cap="none">
              <a:solidFill>
                <a:schemeClr val="dk1"/>
              </a:solidFill>
              <a:latin typeface="Calibri"/>
              <a:ea typeface="Calibri"/>
              <a:cs typeface="Calibri"/>
              <a:sym typeface="Calibri"/>
            </a:endParaRPr>
          </a:p>
        </p:txBody>
      </p:sp>
      <p:sp>
        <p:nvSpPr>
          <p:cNvPr id="382" name="Google Shape;382;p14"/>
          <p:cNvSpPr/>
          <p:nvPr/>
        </p:nvSpPr>
        <p:spPr>
          <a:xfrm>
            <a:off x="6934200" y="5029200"/>
            <a:ext cx="2234029" cy="1905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4B5563"/>
              </a:buClr>
              <a:buSzPts val="1050"/>
              <a:buFont typeface="Arial"/>
              <a:buNone/>
            </a:pPr>
            <a:r>
              <a:rPr lang="en-US" sz="1050" b="0" i="0" u="none" strike="noStrike" cap="none">
                <a:solidFill>
                  <a:srgbClr val="4B5563"/>
                </a:solidFill>
                <a:latin typeface="Arial"/>
                <a:ea typeface="Arial"/>
                <a:cs typeface="Arial"/>
                <a:sym typeface="Arial"/>
              </a:rPr>
              <a:t>Placeholder for project docs</a:t>
            </a:r>
            <a:endParaRPr sz="1050" b="0" i="0" u="none" strike="noStrike" cap="none">
              <a:solidFill>
                <a:schemeClr val="dk1"/>
              </a:solidFill>
              <a:latin typeface="Calibri"/>
              <a:ea typeface="Calibri"/>
              <a:cs typeface="Calibri"/>
              <a:sym typeface="Calibri"/>
            </a:endParaRPr>
          </a:p>
        </p:txBody>
      </p:sp>
      <p:sp>
        <p:nvSpPr>
          <p:cNvPr id="383" name="Google Shape;383;p14"/>
          <p:cNvSpPr/>
          <p:nvPr/>
        </p:nvSpPr>
        <p:spPr>
          <a:xfrm>
            <a:off x="381000" y="5753100"/>
            <a:ext cx="1198543" cy="266700"/>
          </a:xfrm>
          <a:prstGeom prst="rect">
            <a:avLst/>
          </a:prstGeom>
          <a:noFill/>
          <a:ln>
            <a:noFill/>
          </a:ln>
        </p:spPr>
        <p:txBody>
          <a:bodyPr spcFirstLastPara="1" wrap="square" lIns="0" tIns="0" rIns="0" bIns="0" anchor="t" anchorCtr="0">
            <a:noAutofit/>
          </a:bodyPr>
          <a:lstStyle/>
          <a:p>
            <a:pPr marL="0" marR="0" lvl="0" indent="0" algn="l" rtl="0">
              <a:lnSpc>
                <a:spcPct val="155555"/>
              </a:lnSpc>
              <a:spcBef>
                <a:spcPts val="0"/>
              </a:spcBef>
              <a:spcAft>
                <a:spcPts val="0"/>
              </a:spcAft>
              <a:buClr>
                <a:srgbClr val="374151"/>
              </a:buClr>
              <a:buSzPts val="1350"/>
              <a:buFont typeface="Arial"/>
              <a:buNone/>
            </a:pPr>
            <a:r>
              <a:rPr lang="en-US" sz="1350" b="1" i="0" u="none" strike="noStrike" cap="none">
                <a:solidFill>
                  <a:srgbClr val="374151"/>
                </a:solidFill>
                <a:latin typeface="Arial"/>
                <a:ea typeface="Arial"/>
                <a:cs typeface="Arial"/>
                <a:sym typeface="Arial"/>
              </a:rPr>
              <a:t>Thank You</a:t>
            </a:r>
            <a:endParaRPr sz="1350" b="0" i="0" u="none" strike="noStrike" cap="none">
              <a:solidFill>
                <a:schemeClr val="dk1"/>
              </a:solidFill>
              <a:latin typeface="Calibri"/>
              <a:ea typeface="Calibri"/>
              <a:cs typeface="Calibri"/>
              <a:sym typeface="Calibri"/>
            </a:endParaRPr>
          </a:p>
        </p:txBody>
      </p:sp>
      <p:sp>
        <p:nvSpPr>
          <p:cNvPr id="384" name="Google Shape;384;p14"/>
          <p:cNvSpPr/>
          <p:nvPr/>
        </p:nvSpPr>
        <p:spPr>
          <a:xfrm>
            <a:off x="8923586" y="5772150"/>
            <a:ext cx="3464897" cy="228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B5563"/>
              </a:buClr>
              <a:buSzPts val="1200"/>
              <a:buFont typeface="Arial"/>
              <a:buNone/>
            </a:pPr>
            <a:r>
              <a:rPr lang="en-US" sz="1200" b="0" i="0" u="none" strike="noStrike" cap="none">
                <a:solidFill>
                  <a:srgbClr val="4B5563"/>
                </a:solidFill>
                <a:latin typeface="Arial"/>
                <a:ea typeface="Arial"/>
                <a:cs typeface="Arial"/>
                <a:sym typeface="Arial"/>
              </a:rPr>
              <a:t>Team: Prerana, Harini, Riyanshi, Hardi</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807</Words>
  <Application>Microsoft Macintosh PowerPoint</Application>
  <PresentationFormat>Widescreen</PresentationFormat>
  <Paragraphs>187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HARDI VIRANI</cp:lastModifiedBy>
  <cp:revision>2</cp:revision>
  <dcterms:modified xsi:type="dcterms:W3CDTF">2025-12-01T18:37:20Z</dcterms:modified>
</cp:coreProperties>
</file>